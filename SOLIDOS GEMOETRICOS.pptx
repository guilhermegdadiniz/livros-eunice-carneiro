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511" r:id="rId2"/>
    <p:sldId id="523" r:id="rId3"/>
    <p:sldId id="570" r:id="rId4"/>
    <p:sldId id="578" r:id="rId5"/>
    <p:sldId id="580" r:id="rId6"/>
    <p:sldId id="593" r:id="rId7"/>
    <p:sldId id="601" r:id="rId8"/>
    <p:sldId id="602" r:id="rId9"/>
    <p:sldId id="588" r:id="rId10"/>
    <p:sldId id="603" r:id="rId11"/>
    <p:sldId id="604" r:id="rId12"/>
    <p:sldId id="605" r:id="rId13"/>
    <p:sldId id="589" r:id="rId14"/>
    <p:sldId id="606" r:id="rId15"/>
    <p:sldId id="607" r:id="rId16"/>
    <p:sldId id="608" r:id="rId17"/>
    <p:sldId id="609" r:id="rId18"/>
    <p:sldId id="610" r:id="rId19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58A6"/>
    <a:srgbClr val="D6A300"/>
    <a:srgbClr val="D47C06"/>
    <a:srgbClr val="FFC000"/>
    <a:srgbClr val="0B9444"/>
    <a:srgbClr val="3E702E"/>
    <a:srgbClr val="110979"/>
    <a:srgbClr val="FFFFFF"/>
    <a:srgbClr val="4A8537"/>
    <a:srgbClr val="4277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3"/>
  </p:normalViewPr>
  <p:slideViewPr>
    <p:cSldViewPr showGuides="1">
      <p:cViewPr varScale="1">
        <p:scale>
          <a:sx n="103" d="100"/>
          <a:sy n="103" d="100"/>
        </p:scale>
        <p:origin x="874" y="82"/>
      </p:cViewPr>
      <p:guideLst>
        <p:guide orient="horz" pos="323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54671D-91CA-49A0-9207-0EBEA20498CF}" type="datetimeFigureOut">
              <a:rPr lang="pt-BR" smtClean="0"/>
              <a:t>24/08/2025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50D057-C3AD-482D-96E8-2134EA48E5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5177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075565-F053-4C76-985F-54C41EDF93E7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263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0D057-C3AD-482D-96E8-2134EA48E5A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1697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https://efape.educacao.sp.gov.br/curriculopaulista/wp-content/uploads/sites/7/2020/12/EM-2%C2%AA-s%C3%A9rie-Aluna.pdf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50D057-C3AD-482D-96E8-2134EA48E5A0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1646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https://efape.educacao.sp.gov.br/curriculopaulista/wp-content/uploads/sites/7/2020/12/EM-2%C2%AA-s%C3%A9rie-Aluna.pdf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50D057-C3AD-482D-96E8-2134EA48E5A0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26784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https://efape.educacao.sp.gov.br/curriculopaulista/wp-content/uploads/sites/7/2020/12/EM-2%C2%AA-s%C3%A9rie-Aluna.pdf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50D057-C3AD-482D-96E8-2134EA48E5A0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920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https://efape.educacao.sp.gov.br/curriculopaulista/wp-content/uploads/sites/7/2020/12/EM-2%C2%AA-s%C3%A9rie-Aluna.pdf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50D057-C3AD-482D-96E8-2134EA48E5A0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663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0D057-C3AD-482D-96E8-2134EA48E5A0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08095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0D057-C3AD-482D-96E8-2134EA48E5A0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6803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0D057-C3AD-482D-96E8-2134EA48E5A0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49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https://efape.educacao.sp.gov.br/curriculopaulista/wp-content/uploads/sites/7/2020/12/EM-2%C2%AA-s%C3%A9rie-Aluna.pdf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50D057-C3AD-482D-96E8-2134EA48E5A0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68064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https://efape.educacao.sp.gov.br/curriculopaulista/wp-content/uploads/sites/7/2020/12/EM-2%C2%AA-s%C3%A9rie-Aluna.pdf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50D057-C3AD-482D-96E8-2134EA48E5A0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11733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075565-F053-4C76-985F-54C41EDF93E7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6994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662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012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213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511" userDrawn="1">
          <p15:clr>
            <a:srgbClr val="F26B43"/>
          </p15:clr>
        </p15:guide>
        <p15:guide id="2" pos="4241" userDrawn="1">
          <p15:clr>
            <a:srgbClr val="F26B43"/>
          </p15:clr>
        </p15:guide>
        <p15:guide id="3" pos="249" userDrawn="1">
          <p15:clr>
            <a:srgbClr val="F26B43"/>
          </p15:clr>
        </p15:guide>
        <p15:guide id="4" orient="horz" pos="758" userDrawn="1">
          <p15:clr>
            <a:srgbClr val="F26B43"/>
          </p15:clr>
        </p15:guide>
        <p15:guide id="5" orient="horz" pos="1620" userDrawn="1">
          <p15:clr>
            <a:srgbClr val="F26B43"/>
          </p15:clr>
        </p15:guide>
        <p15:guide id="6" orient="horz" pos="31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17/06/relationships/model3d" Target="../media/model3d4.glb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6" Type="http://schemas.microsoft.com/office/2017/06/relationships/model3d" Target="../media/model3d3.glb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microsoft.com/office/2017/06/relationships/model3d" Target="../media/model3d5.glb"/><Relationship Id="rId4" Type="http://schemas.microsoft.com/office/2017/06/relationships/model3d" Target="../media/model3d2.glb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17/06/relationships/model3d" Target="../media/model3d6.glb"/><Relationship Id="rId7" Type="http://schemas.microsoft.com/office/2017/06/relationships/model3d" Target="../media/model3d3.glb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17/06/relationships/model3d" Target="../media/model3d2.glb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microsoft.com/office/2017/06/relationships/model3d" Target="../media/model3d4.glb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1.xml"/><Relationship Id="rId6" Type="http://schemas.microsoft.com/office/2017/06/relationships/model3d" Target="../media/model3d3.glb"/><Relationship Id="rId5" Type="http://schemas.openxmlformats.org/officeDocument/2006/relationships/image" Target="../media/image10.png"/><Relationship Id="rId4" Type="http://schemas.microsoft.com/office/2017/06/relationships/model3d" Target="../media/model3d4.glb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7/06/relationships/model3d" Target="../media/model3d3.glb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microsoft.com/office/2017/06/relationships/model3d" Target="../media/model3d6.glb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microsoft.com/office/2017/06/relationships/model3d" Target="../media/model3d7.glb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7/06/relationships/model3d" Target="../media/model3d6.glb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7/06/relationships/model3d" Target="../media/model3d5.glb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74;p2">
            <a:extLst>
              <a:ext uri="{FF2B5EF4-FFF2-40B4-BE49-F238E27FC236}">
                <a16:creationId xmlns:a16="http://schemas.microsoft.com/office/drawing/2014/main" id="{94364AAA-2DD3-4AD8-B397-7FC7C7F267C6}"/>
              </a:ext>
            </a:extLst>
          </p:cNvPr>
          <p:cNvSpPr/>
          <p:nvPr/>
        </p:nvSpPr>
        <p:spPr>
          <a:xfrm>
            <a:off x="2340352" y="1689338"/>
            <a:ext cx="6804248" cy="716835"/>
          </a:xfrm>
          <a:prstGeom prst="rect">
            <a:avLst/>
          </a:prstGeom>
          <a:solidFill>
            <a:srgbClr val="2E5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pt-BR" sz="22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Observação de Formas Geométricas Espaciais</a:t>
            </a:r>
          </a:p>
        </p:txBody>
      </p:sp>
      <p:pic>
        <p:nvPicPr>
          <p:cNvPr id="15" name="Google Shape;75;p2" descr="C:\Users\Junior\Desktop\Logo Centro de Midias da Educacao de Sao Paulo\Logo Centro de Midias da Educacao de Sao Paulo\PNG\Logo-Centro-de-Midias-da-Educacao-de-Sao-Paulo-cor.png">
            <a:extLst>
              <a:ext uri="{FF2B5EF4-FFF2-40B4-BE49-F238E27FC236}">
                <a16:creationId xmlns:a16="http://schemas.microsoft.com/office/drawing/2014/main" id="{0DB31219-7387-489C-A929-74137D8CDB22}"/>
              </a:ext>
            </a:extLst>
          </p:cNvPr>
          <p:cNvPicPr preferRelativeResize="0"/>
          <p:nvPr/>
        </p:nvPicPr>
        <p:blipFill rotWithShape="1">
          <a:blip r:embed="rId3" cstate="print">
            <a:alphaModFix/>
          </a:blip>
          <a:srcRect r="60874"/>
          <a:stretch/>
        </p:blipFill>
        <p:spPr>
          <a:xfrm>
            <a:off x="467544" y="1704846"/>
            <a:ext cx="1669266" cy="1566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0896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98216E6-A3ED-4CFD-8152-22AEBE28B70B}"/>
              </a:ext>
            </a:extLst>
          </p:cNvPr>
          <p:cNvSpPr txBox="1"/>
          <p:nvPr/>
        </p:nvSpPr>
        <p:spPr>
          <a:xfrm>
            <a:off x="395287" y="1207880"/>
            <a:ext cx="835342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sz="2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Reconhecer</a:t>
            </a: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prismas e pirâmides e diferenciá-los por meio de seus atributos.</a:t>
            </a:r>
          </a:p>
          <a:p>
            <a:pPr algn="just">
              <a:spcAft>
                <a:spcPts val="1200"/>
              </a:spcAft>
            </a:pPr>
            <a:r>
              <a:rPr lang="pt-BR" sz="2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Reconhecer</a:t>
            </a: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faces, vértices e arestas em prismas e pirâmides.</a:t>
            </a:r>
          </a:p>
          <a:p>
            <a:pPr algn="just">
              <a:spcAft>
                <a:spcPts val="1200"/>
              </a:spcAft>
            </a:pPr>
            <a:r>
              <a:rPr lang="pt-BR" sz="2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Analisar</a:t>
            </a: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diferentes planificações de pirâmide, prisma, cone e cilindro.</a:t>
            </a:r>
          </a:p>
        </p:txBody>
      </p:sp>
      <p:grpSp>
        <p:nvGrpSpPr>
          <p:cNvPr id="8" name="Grupo 12">
            <a:extLst>
              <a:ext uri="{FF2B5EF4-FFF2-40B4-BE49-F238E27FC236}">
                <a16:creationId xmlns:a16="http://schemas.microsoft.com/office/drawing/2014/main" id="{17F3D126-3D90-49AB-9099-37317061F530}"/>
              </a:ext>
            </a:extLst>
          </p:cNvPr>
          <p:cNvGrpSpPr/>
          <p:nvPr/>
        </p:nvGrpSpPr>
        <p:grpSpPr>
          <a:xfrm>
            <a:off x="1403648" y="-2773"/>
            <a:ext cx="6336704" cy="741056"/>
            <a:chOff x="1403648" y="-2773"/>
            <a:chExt cx="6336704" cy="741056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2D94BA82-256B-48A4-9CF5-5B8E33169759}"/>
                </a:ext>
              </a:extLst>
            </p:cNvPr>
            <p:cNvSpPr/>
            <p:nvPr/>
          </p:nvSpPr>
          <p:spPr>
            <a:xfrm>
              <a:off x="1403648" y="195486"/>
              <a:ext cx="6336704" cy="542797"/>
            </a:xfrm>
            <a:prstGeom prst="rect">
              <a:avLst/>
            </a:prstGeom>
            <a:solidFill>
              <a:srgbClr val="2E58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3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Objetivos da Aula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3AAC2643-6F82-4DE4-B73A-7D21F6EFAFFB}"/>
                </a:ext>
              </a:extLst>
            </p:cNvPr>
            <p:cNvSpPr/>
            <p:nvPr/>
          </p:nvSpPr>
          <p:spPr>
            <a:xfrm>
              <a:off x="1403648" y="-2773"/>
              <a:ext cx="6336704" cy="195486"/>
            </a:xfrm>
            <a:prstGeom prst="rect">
              <a:avLst/>
            </a:prstGeom>
            <a:solidFill>
              <a:srgbClr val="1109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4587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0" name="Modelo 3D 19" descr="Cone">
                <a:extLst>
                  <a:ext uri="{FF2B5EF4-FFF2-40B4-BE49-F238E27FC236}">
                    <a16:creationId xmlns:a16="http://schemas.microsoft.com/office/drawing/2014/main" id="{A4211FE2-E888-446D-8EAC-56E96A1736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46078139"/>
                  </p:ext>
                </p:extLst>
              </p:nvPr>
            </p:nvGraphicFramePr>
            <p:xfrm>
              <a:off x="4772796" y="3209574"/>
              <a:ext cx="1221045" cy="157466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221045" cy="1574666"/>
                    </a:xfrm>
                    <a:prstGeom prst="rect">
                      <a:avLst/>
                    </a:prstGeom>
                  </am3d:spPr>
                  <am3d:camera>
                    <am3d:pos x="0" y="0" z="7987706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04480" d="1000000"/>
                    <am3d:preTrans dx="2" dy="-16922770" dz="-2"/>
                    <am3d:scale>
                      <am3d:sx n="1000000" d="1000000"/>
                      <am3d:sy n="1000000" d="1000000"/>
                      <am3d:sz n="1000000" d="1000000"/>
                    </am3d:scale>
                    <am3d:rot ax="-1411917" ay="436343" az="-189314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90602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" name="Modelo 3D 19" descr="Cone">
                <a:extLst>
                  <a:ext uri="{FF2B5EF4-FFF2-40B4-BE49-F238E27FC236}">
                    <a16:creationId xmlns:a16="http://schemas.microsoft.com/office/drawing/2014/main" id="{A4211FE2-E888-446D-8EAC-56E96A1736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72796" y="3209574"/>
                <a:ext cx="1221045" cy="1574666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CaixaDeTexto 31">
            <a:extLst>
              <a:ext uri="{FF2B5EF4-FFF2-40B4-BE49-F238E27FC236}">
                <a16:creationId xmlns:a16="http://schemas.microsoft.com/office/drawing/2014/main" id="{5FDC8DC5-47D6-4728-A8A2-8B8AADECECEA}"/>
              </a:ext>
            </a:extLst>
          </p:cNvPr>
          <p:cNvSpPr txBox="1"/>
          <p:nvPr/>
        </p:nvSpPr>
        <p:spPr>
          <a:xfrm>
            <a:off x="427779" y="4702017"/>
            <a:ext cx="2518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Elaborado especialmente para o CMSP.</a:t>
            </a:r>
          </a:p>
        </p:txBody>
      </p:sp>
      <p:grpSp>
        <p:nvGrpSpPr>
          <p:cNvPr id="16" name="Grupo 12">
            <a:extLst>
              <a:ext uri="{FF2B5EF4-FFF2-40B4-BE49-F238E27FC236}">
                <a16:creationId xmlns:a16="http://schemas.microsoft.com/office/drawing/2014/main" id="{EEEE8136-B4A1-46DD-8302-0749A14054AE}"/>
              </a:ext>
            </a:extLst>
          </p:cNvPr>
          <p:cNvGrpSpPr/>
          <p:nvPr/>
        </p:nvGrpSpPr>
        <p:grpSpPr>
          <a:xfrm>
            <a:off x="1403648" y="-2773"/>
            <a:ext cx="6336704" cy="741056"/>
            <a:chOff x="1403648" y="-2773"/>
            <a:chExt cx="6336704" cy="741056"/>
          </a:xfrm>
        </p:grpSpPr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9C863972-3455-46B5-89D6-E82DC9B58F8D}"/>
                </a:ext>
              </a:extLst>
            </p:cNvPr>
            <p:cNvSpPr/>
            <p:nvPr/>
          </p:nvSpPr>
          <p:spPr>
            <a:xfrm>
              <a:off x="1403648" y="195486"/>
              <a:ext cx="6336704" cy="542797"/>
            </a:xfrm>
            <a:prstGeom prst="rect">
              <a:avLst/>
            </a:prstGeom>
            <a:solidFill>
              <a:srgbClr val="2E58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3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Sólidos Geométricos</a:t>
              </a: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A99E3054-1204-4979-A41F-C7C301995EB5}"/>
                </a:ext>
              </a:extLst>
            </p:cNvPr>
            <p:cNvSpPr/>
            <p:nvPr/>
          </p:nvSpPr>
          <p:spPr>
            <a:xfrm>
              <a:off x="1403648" y="-2773"/>
              <a:ext cx="6336704" cy="195486"/>
            </a:xfrm>
            <a:prstGeom prst="rect">
              <a:avLst/>
            </a:prstGeom>
            <a:solidFill>
              <a:srgbClr val="1109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3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E436ED0-81D7-4B97-9C18-6440886E1155}"/>
              </a:ext>
            </a:extLst>
          </p:cNvPr>
          <p:cNvSpPr txBox="1"/>
          <p:nvPr/>
        </p:nvSpPr>
        <p:spPr>
          <a:xfrm>
            <a:off x="395287" y="1206127"/>
            <a:ext cx="8353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b="0" i="0" dirty="0">
                <a:effectLst/>
                <a:latin typeface="Open Sans" panose="020B0604020202020204" charset="0"/>
              </a:rPr>
              <a:t>São objetos geométricos </a:t>
            </a:r>
            <a:r>
              <a:rPr lang="pt-BR" sz="2000" b="1" i="0" dirty="0">
                <a:effectLst/>
                <a:latin typeface="Open Sans" panose="020B0604020202020204" charset="0"/>
              </a:rPr>
              <a:t>tridimensionais</a:t>
            </a:r>
            <a:r>
              <a:rPr lang="pt-BR" sz="2000" b="0" i="0" dirty="0">
                <a:effectLst/>
                <a:latin typeface="Open Sans" panose="020B0604020202020204" charset="0"/>
              </a:rPr>
              <a:t>, com </a:t>
            </a:r>
            <a:r>
              <a:rPr lang="pt-BR" sz="2000" b="1" i="0" dirty="0">
                <a:effectLst/>
                <a:latin typeface="Open Sans" panose="020B0604020202020204" charset="0"/>
              </a:rPr>
              <a:t>largura</a:t>
            </a:r>
            <a:r>
              <a:rPr lang="pt-BR" sz="2000" b="0" i="0" dirty="0">
                <a:effectLst/>
                <a:latin typeface="Open Sans" panose="020B0604020202020204" charset="0"/>
              </a:rPr>
              <a:t>, </a:t>
            </a:r>
            <a:r>
              <a:rPr lang="pt-BR" sz="2000" b="1" i="0" dirty="0">
                <a:effectLst/>
                <a:latin typeface="Open Sans" panose="020B0604020202020204" charset="0"/>
              </a:rPr>
              <a:t>comprimento</a:t>
            </a:r>
            <a:r>
              <a:rPr lang="pt-BR" sz="2000" b="0" i="0" dirty="0">
                <a:effectLst/>
                <a:latin typeface="Open Sans" panose="020B0604020202020204" charset="0"/>
              </a:rPr>
              <a:t> e </a:t>
            </a:r>
            <a:r>
              <a:rPr lang="pt-BR" sz="2000" b="1" i="0" dirty="0">
                <a:effectLst/>
                <a:latin typeface="Open Sans" panose="020B0604020202020204" charset="0"/>
              </a:rPr>
              <a:t>altura</a:t>
            </a:r>
            <a:r>
              <a:rPr lang="pt-BR" sz="2000" b="0" i="0" dirty="0">
                <a:effectLst/>
                <a:latin typeface="Open Sans" panose="020B0604020202020204" charset="0"/>
              </a:rPr>
              <a:t>.</a:t>
            </a:r>
            <a:endParaRPr lang="pt-BR" sz="2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4" name="Modelo 3D 23" descr="Cone">
                <a:extLst>
                  <a:ext uri="{FF2B5EF4-FFF2-40B4-BE49-F238E27FC236}">
                    <a16:creationId xmlns:a16="http://schemas.microsoft.com/office/drawing/2014/main" id="{A6F68CBA-86FE-4F40-97E4-879559260CD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77465608"/>
                  </p:ext>
                </p:extLst>
              </p:nvPr>
            </p:nvGraphicFramePr>
            <p:xfrm>
              <a:off x="939289" y="1819317"/>
              <a:ext cx="1221045" cy="157466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221045" cy="1574666"/>
                    </a:xfrm>
                    <a:prstGeom prst="rect">
                      <a:avLst/>
                    </a:prstGeom>
                  </am3d:spPr>
                  <am3d:camera>
                    <am3d:pos x="0" y="0" z="7987706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04480" d="1000000"/>
                    <am3d:preTrans dx="2" dy="-16922770" dz="-2"/>
                    <am3d:scale>
                      <am3d:sx n="1000000" d="1000000"/>
                      <am3d:sy n="1000000" d="1000000"/>
                      <am3d:sz n="1000000" d="1000000"/>
                    </am3d:scale>
                    <am3d:rot ax="-1411917" ay="436343" az="-189314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90602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4" name="Modelo 3D 23" descr="Cone">
                <a:extLst>
                  <a:ext uri="{FF2B5EF4-FFF2-40B4-BE49-F238E27FC236}">
                    <a16:creationId xmlns:a16="http://schemas.microsoft.com/office/drawing/2014/main" id="{A6F68CBA-86FE-4F40-97E4-879559260CD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9289" y="1819317"/>
                <a:ext cx="1221045" cy="15746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7" name="Modelo 3D 26" descr="Prisma Triangular Cinza-Escuro">
                <a:extLst>
                  <a:ext uri="{FF2B5EF4-FFF2-40B4-BE49-F238E27FC236}">
                    <a16:creationId xmlns:a16="http://schemas.microsoft.com/office/drawing/2014/main" id="{511222B5-3F91-4B9C-9B50-3A5A0DA481E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79234792"/>
                  </p:ext>
                </p:extLst>
              </p:nvPr>
            </p:nvGraphicFramePr>
            <p:xfrm>
              <a:off x="956005" y="3207786"/>
              <a:ext cx="1070445" cy="1740228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070445" cy="1740228"/>
                    </a:xfrm>
                    <a:prstGeom prst="rect">
                      <a:avLst/>
                    </a:prstGeom>
                  </am3d:spPr>
                  <am3d:camera>
                    <am3d:pos x="0" y="0" z="6850851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284259" d="1000000"/>
                    <am3d:preTrans dx="-103008" dy="-11011706" dz="-5212029"/>
                    <am3d:scale>
                      <am3d:sx n="1000000" d="1000000"/>
                      <am3d:sy n="1000000" d="1000000"/>
                      <am3d:sz n="1000000" d="1000000"/>
                    </am3d:scale>
                    <am3d:rot ax="1540516" ay="-459001" az="-219711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160379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7" name="Modelo 3D 26" descr="Prisma Triangular Cinza-Escuro">
                <a:extLst>
                  <a:ext uri="{FF2B5EF4-FFF2-40B4-BE49-F238E27FC236}">
                    <a16:creationId xmlns:a16="http://schemas.microsoft.com/office/drawing/2014/main" id="{511222B5-3F91-4B9C-9B50-3A5A0DA481E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6005" y="3207786"/>
                <a:ext cx="1070445" cy="17402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9" name="Modelo 3D 28" descr="Prisma Hexagonal E Base Vermelha">
                <a:extLst>
                  <a:ext uri="{FF2B5EF4-FFF2-40B4-BE49-F238E27FC236}">
                    <a16:creationId xmlns:a16="http://schemas.microsoft.com/office/drawing/2014/main" id="{703CCE9A-EC0B-49BC-9D3A-48BD5049405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16860115"/>
                  </p:ext>
                </p:extLst>
              </p:nvPr>
            </p:nvGraphicFramePr>
            <p:xfrm>
              <a:off x="3006543" y="2071227"/>
              <a:ext cx="911534" cy="1139144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911534" cy="1139144"/>
                    </a:xfrm>
                    <a:prstGeom prst="rect">
                      <a:avLst/>
                    </a:prstGeom>
                  </am3d:spPr>
                  <am3d:camera>
                    <am3d:pos x="0" y="0" z="7792757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8614" d="1000000"/>
                    <am3d:preTrans dx="36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367412" ay="-93350" az="-39215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14469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9" name="Modelo 3D 28" descr="Prisma Hexagonal E Base Vermelha">
                <a:extLst>
                  <a:ext uri="{FF2B5EF4-FFF2-40B4-BE49-F238E27FC236}">
                    <a16:creationId xmlns:a16="http://schemas.microsoft.com/office/drawing/2014/main" id="{703CCE9A-EC0B-49BC-9D3A-48BD5049405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06543" y="2071227"/>
                <a:ext cx="911534" cy="11391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0" name="Modelo 3D 29" descr="Pinacoide Branco">
                <a:extLst>
                  <a:ext uri="{FF2B5EF4-FFF2-40B4-BE49-F238E27FC236}">
                    <a16:creationId xmlns:a16="http://schemas.microsoft.com/office/drawing/2014/main" id="{05F481BF-BB97-40D2-B98B-E366AD7B279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66330687"/>
                  </p:ext>
                </p:extLst>
              </p:nvPr>
            </p:nvGraphicFramePr>
            <p:xfrm>
              <a:off x="4575770" y="1788296"/>
              <a:ext cx="1508398" cy="1537018"/>
            </p:xfrm>
            <a:graphic>
              <a:graphicData uri="http://schemas.microsoft.com/office/drawing/2017/model3d">
                <am3d:model3d r:embed="rId8">
                  <am3d:spPr>
                    <a:xfrm>
                      <a:off x="0" y="0"/>
                      <a:ext cx="1508398" cy="1537018"/>
                    </a:xfrm>
                    <a:prstGeom prst="rect">
                      <a:avLst/>
                    </a:prstGeom>
                  </am3d:spPr>
                  <am3d:camera>
                    <am3d:pos x="0" y="0" z="628240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0914" d="1000000"/>
                    <am3d:preTrans dx="0" dy="-13241296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225549" ay="1914169" az="1306831"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166257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0" name="Modelo 3D 29" descr="Pinacoide Branco">
                <a:extLst>
                  <a:ext uri="{FF2B5EF4-FFF2-40B4-BE49-F238E27FC236}">
                    <a16:creationId xmlns:a16="http://schemas.microsoft.com/office/drawing/2014/main" id="{05F481BF-BB97-40D2-B98B-E366AD7B279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75770" y="1788296"/>
                <a:ext cx="1508398" cy="15370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1" name="Modelo 3D 30" descr="Cilindro Cinza-Claro">
                <a:extLst>
                  <a:ext uri="{FF2B5EF4-FFF2-40B4-BE49-F238E27FC236}">
                    <a16:creationId xmlns:a16="http://schemas.microsoft.com/office/drawing/2014/main" id="{54A64B04-5AB7-4404-B077-60788AA03E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98987932"/>
                  </p:ext>
                </p:extLst>
              </p:nvPr>
            </p:nvGraphicFramePr>
            <p:xfrm>
              <a:off x="3002479" y="3356817"/>
              <a:ext cx="957201" cy="1456283"/>
            </p:xfrm>
            <a:graphic>
              <a:graphicData uri="http://schemas.microsoft.com/office/drawing/2017/model3d">
                <am3d:model3d r:embed="rId10">
                  <am3d:spPr>
                    <a:xfrm>
                      <a:off x="0" y="0"/>
                      <a:ext cx="957201" cy="1456283"/>
                    </a:xfrm>
                    <a:prstGeom prst="rect">
                      <a:avLst/>
                    </a:prstGeom>
                  </am3d:spPr>
                  <am3d:camera>
                    <am3d:pos x="0" y="0" z="6278280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59681" d="1000000"/>
                    <am3d:preTrans dx="22" dy="-18000000" dz="6"/>
                    <am3d:scale>
                      <am3d:sx n="1000000" d="1000000"/>
                      <am3d:sy n="1000000" d="1000000"/>
                      <am3d:sz n="1000000" d="1000000"/>
                    </am3d:scale>
                    <am3d:rot ax="-8459614" ay="1253493" az="-9833368"/>
                    <am3d:postTrans dx="0" dy="0" dz="0"/>
                  </am3d:trans>
                  <am3d:raster rName="Office3DRenderer" rVer="16.0.8326">
                    <am3d:blip r:embed="rId11"/>
                  </am3d:raster>
                  <am3d:objViewport viewportSz="165851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1" name="Modelo 3D 30" descr="Cilindro Cinza-Claro">
                <a:extLst>
                  <a:ext uri="{FF2B5EF4-FFF2-40B4-BE49-F238E27FC236}">
                    <a16:creationId xmlns:a16="http://schemas.microsoft.com/office/drawing/2014/main" id="{54A64B04-5AB7-4404-B077-60788AA03E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02479" y="3356817"/>
                <a:ext cx="957201" cy="145628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1342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/>
          <p:cNvGrpSpPr/>
          <p:nvPr/>
        </p:nvGrpSpPr>
        <p:grpSpPr>
          <a:xfrm>
            <a:off x="1403648" y="-2773"/>
            <a:ext cx="6336704" cy="741056"/>
            <a:chOff x="1403648" y="-2773"/>
            <a:chExt cx="6336704" cy="741056"/>
          </a:xfrm>
        </p:grpSpPr>
        <p:sp>
          <p:nvSpPr>
            <p:cNvPr id="18" name="Retângulo 17"/>
            <p:cNvSpPr/>
            <p:nvPr/>
          </p:nvSpPr>
          <p:spPr>
            <a:xfrm>
              <a:off x="1403648" y="195486"/>
              <a:ext cx="6336704" cy="542797"/>
            </a:xfrm>
            <a:prstGeom prst="rect">
              <a:avLst/>
            </a:prstGeom>
            <a:solidFill>
              <a:srgbClr val="2E58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/>
            <p:cNvSpPr/>
            <p:nvPr/>
          </p:nvSpPr>
          <p:spPr>
            <a:xfrm>
              <a:off x="1403648" y="-2773"/>
              <a:ext cx="6336704" cy="195486"/>
            </a:xfrm>
            <a:prstGeom prst="rect">
              <a:avLst/>
            </a:prstGeom>
            <a:solidFill>
              <a:srgbClr val="1109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0" name="CaixaDeTexto 9"/>
          <p:cNvSpPr txBox="1"/>
          <p:nvPr/>
        </p:nvSpPr>
        <p:spPr>
          <a:xfrm>
            <a:off x="1403648" y="233586"/>
            <a:ext cx="633670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Poliedros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455A197-8F0C-459A-B870-316E84398839}"/>
              </a:ext>
            </a:extLst>
          </p:cNvPr>
          <p:cNvSpPr txBox="1"/>
          <p:nvPr/>
        </p:nvSpPr>
        <p:spPr>
          <a:xfrm>
            <a:off x="395288" y="1216062"/>
            <a:ext cx="84971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sz="200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Os </a:t>
            </a:r>
            <a:r>
              <a:rPr lang="pt-BR" sz="2000" b="1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Sólidos Geométricos </a:t>
            </a:r>
            <a:r>
              <a:rPr lang="pt-BR" sz="2000" b="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podem ser classificados como:</a:t>
            </a:r>
          </a:p>
          <a:p>
            <a:pPr marL="180000" indent="-180000" algn="just">
              <a:spcAft>
                <a:spcPts val="1200"/>
              </a:spcAft>
              <a:buClr>
                <a:srgbClr val="2E58A6"/>
              </a:buClr>
              <a:buSzPct val="130000"/>
              <a:buFont typeface="Arial" panose="020B0604020202020204" pitchFamily="34" charset="0"/>
              <a:buChar char="•"/>
            </a:pPr>
            <a:r>
              <a:rPr lang="pt-BR" sz="2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Poliedros:</a:t>
            </a: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têm </a:t>
            </a:r>
            <a:r>
              <a:rPr lang="pt-BR" sz="2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faces planas</a:t>
            </a: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. A palavra </a:t>
            </a:r>
            <a:r>
              <a:rPr lang="pt-BR" sz="2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poliedro</a:t>
            </a: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vem do latim:</a:t>
            </a:r>
          </a:p>
          <a:p>
            <a:pPr algn="just">
              <a:spcAft>
                <a:spcPts val="1200"/>
              </a:spcAft>
              <a:buClr>
                <a:srgbClr val="2E58A6"/>
              </a:buClr>
              <a:buSzPct val="130000"/>
            </a:pPr>
            <a:r>
              <a:rPr lang="pt-BR" sz="2000" i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poli</a:t>
            </a: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= muitos, </a:t>
            </a:r>
            <a:r>
              <a:rPr lang="pt-BR" sz="2000" i="1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edro</a:t>
            </a: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= face. 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0" name="Modelo 3D 19" descr="Pirâmide Cinza-Claro">
                <a:extLst>
                  <a:ext uri="{FF2B5EF4-FFF2-40B4-BE49-F238E27FC236}">
                    <a16:creationId xmlns:a16="http://schemas.microsoft.com/office/drawing/2014/main" id="{0A2B77DC-8619-4827-98BF-A46D4619F1A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4532854"/>
                  </p:ext>
                </p:extLst>
              </p:nvPr>
            </p:nvGraphicFramePr>
            <p:xfrm>
              <a:off x="548201" y="2639318"/>
              <a:ext cx="1535336" cy="1537017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535336" cy="1537017"/>
                    </a:xfrm>
                    <a:prstGeom prst="rect">
                      <a:avLst/>
                    </a:prstGeom>
                  </am3d:spPr>
                  <am3d:camera>
                    <am3d:pos x="0" y="0" z="7096067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134103" d="1000000"/>
                    <am3d:preTrans dx="0" dy="-10695087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230697" ay="902637" az="-332783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25639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" name="Modelo 3D 19" descr="Pirâmide Cinza-Claro">
                <a:extLst>
                  <a:ext uri="{FF2B5EF4-FFF2-40B4-BE49-F238E27FC236}">
                    <a16:creationId xmlns:a16="http://schemas.microsoft.com/office/drawing/2014/main" id="{0A2B77DC-8619-4827-98BF-A46D4619F1A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8201" y="2639318"/>
                <a:ext cx="1535336" cy="15370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1" name="Modelo 3D 20" descr="Prisma Triangular Cinza-Escuro">
                <a:extLst>
                  <a:ext uri="{FF2B5EF4-FFF2-40B4-BE49-F238E27FC236}">
                    <a16:creationId xmlns:a16="http://schemas.microsoft.com/office/drawing/2014/main" id="{F67ACD4D-F125-4259-9AEA-526147D8F24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53975464"/>
                  </p:ext>
                </p:extLst>
              </p:nvPr>
            </p:nvGraphicFramePr>
            <p:xfrm>
              <a:off x="2267744" y="2692736"/>
              <a:ext cx="1070445" cy="174022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1070445" cy="1740228"/>
                    </a:xfrm>
                    <a:prstGeom prst="rect">
                      <a:avLst/>
                    </a:prstGeom>
                  </am3d:spPr>
                  <am3d:camera>
                    <am3d:pos x="0" y="0" z="6850851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284259" d="1000000"/>
                    <am3d:preTrans dx="-103008" dy="-11011706" dz="-5212029"/>
                    <am3d:scale>
                      <am3d:sx n="1000000" d="1000000"/>
                      <am3d:sy n="1000000" d="1000000"/>
                      <am3d:sz n="1000000" d="1000000"/>
                    </am3d:scale>
                    <am3d:rot ax="1540516" ay="-459001" az="-219711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160379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1" name="Modelo 3D 20" descr="Prisma Triangular Cinza-Escuro">
                <a:extLst>
                  <a:ext uri="{FF2B5EF4-FFF2-40B4-BE49-F238E27FC236}">
                    <a16:creationId xmlns:a16="http://schemas.microsoft.com/office/drawing/2014/main" id="{F67ACD4D-F125-4259-9AEA-526147D8F24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67744" y="2692736"/>
                <a:ext cx="1070445" cy="17402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2" name="Modelo 3D 21" descr="Prisma Hexagonal E Base Vermelha">
                <a:extLst>
                  <a:ext uri="{FF2B5EF4-FFF2-40B4-BE49-F238E27FC236}">
                    <a16:creationId xmlns:a16="http://schemas.microsoft.com/office/drawing/2014/main" id="{55696B25-31CA-4518-8945-0A0588700DF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41459974"/>
                  </p:ext>
                </p:extLst>
              </p:nvPr>
            </p:nvGraphicFramePr>
            <p:xfrm>
              <a:off x="3922628" y="3037191"/>
              <a:ext cx="911534" cy="1139144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911534" cy="1139144"/>
                    </a:xfrm>
                    <a:prstGeom prst="rect">
                      <a:avLst/>
                    </a:prstGeom>
                  </am3d:spPr>
                  <am3d:camera>
                    <am3d:pos x="0" y="0" z="7792757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8614" d="1000000"/>
                    <am3d:preTrans dx="36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367412" ay="-93350" az="-39215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14469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2" name="Modelo 3D 21" descr="Prisma Hexagonal E Base Vermelha">
                <a:extLst>
                  <a:ext uri="{FF2B5EF4-FFF2-40B4-BE49-F238E27FC236}">
                    <a16:creationId xmlns:a16="http://schemas.microsoft.com/office/drawing/2014/main" id="{55696B25-31CA-4518-8945-0A0588700DF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22628" y="3037191"/>
                <a:ext cx="911534" cy="11391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3" name="Modelo 3D 22" descr="Pinacoide Branco">
                <a:extLst>
                  <a:ext uri="{FF2B5EF4-FFF2-40B4-BE49-F238E27FC236}">
                    <a16:creationId xmlns:a16="http://schemas.microsoft.com/office/drawing/2014/main" id="{F794E07C-24E4-4E22-AEF5-7BDE24C5CD0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28001230"/>
                  </p:ext>
                </p:extLst>
              </p:nvPr>
            </p:nvGraphicFramePr>
            <p:xfrm>
              <a:off x="5224190" y="2794341"/>
              <a:ext cx="1508398" cy="153701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1508398" cy="1537018"/>
                    </a:xfrm>
                    <a:prstGeom prst="rect">
                      <a:avLst/>
                    </a:prstGeom>
                  </am3d:spPr>
                  <am3d:camera>
                    <am3d:pos x="0" y="0" z="628240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0914" d="1000000"/>
                    <am3d:preTrans dx="0" dy="-13241296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225549" ay="1914169" az="1306831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166257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3" name="Modelo 3D 22" descr="Pinacoide Branco">
                <a:extLst>
                  <a:ext uri="{FF2B5EF4-FFF2-40B4-BE49-F238E27FC236}">
                    <a16:creationId xmlns:a16="http://schemas.microsoft.com/office/drawing/2014/main" id="{F794E07C-24E4-4E22-AEF5-7BDE24C5CD0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24190" y="2794341"/>
                <a:ext cx="1508398" cy="1537018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CaixaDeTexto 26">
            <a:extLst>
              <a:ext uri="{FF2B5EF4-FFF2-40B4-BE49-F238E27FC236}">
                <a16:creationId xmlns:a16="http://schemas.microsoft.com/office/drawing/2014/main" id="{A27A627C-DF77-4B6E-B53E-772509587668}"/>
              </a:ext>
            </a:extLst>
          </p:cNvPr>
          <p:cNvSpPr txBox="1"/>
          <p:nvPr/>
        </p:nvSpPr>
        <p:spPr>
          <a:xfrm>
            <a:off x="427779" y="4702017"/>
            <a:ext cx="2518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Elaborado especialmente para o CMSP.</a:t>
            </a:r>
          </a:p>
        </p:txBody>
      </p:sp>
    </p:spTree>
    <p:extLst>
      <p:ext uri="{BB962C8B-B14F-4D97-AF65-F5344CB8AC3E}">
        <p14:creationId xmlns:p14="http://schemas.microsoft.com/office/powerpoint/2010/main" val="3632624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/>
          <p:cNvGrpSpPr/>
          <p:nvPr/>
        </p:nvGrpSpPr>
        <p:grpSpPr>
          <a:xfrm>
            <a:off x="1403648" y="-2773"/>
            <a:ext cx="6336704" cy="741056"/>
            <a:chOff x="1403648" y="-2773"/>
            <a:chExt cx="6336704" cy="741056"/>
          </a:xfrm>
        </p:grpSpPr>
        <p:sp>
          <p:nvSpPr>
            <p:cNvPr id="18" name="Retângulo 17"/>
            <p:cNvSpPr/>
            <p:nvPr/>
          </p:nvSpPr>
          <p:spPr>
            <a:xfrm>
              <a:off x="1403648" y="195486"/>
              <a:ext cx="6336704" cy="542797"/>
            </a:xfrm>
            <a:prstGeom prst="rect">
              <a:avLst/>
            </a:prstGeom>
            <a:solidFill>
              <a:srgbClr val="2E58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/>
            <p:cNvSpPr/>
            <p:nvPr/>
          </p:nvSpPr>
          <p:spPr>
            <a:xfrm>
              <a:off x="1403648" y="-2773"/>
              <a:ext cx="6336704" cy="195486"/>
            </a:xfrm>
            <a:prstGeom prst="rect">
              <a:avLst/>
            </a:prstGeom>
            <a:solidFill>
              <a:srgbClr val="1109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0" name="CaixaDeTexto 9"/>
          <p:cNvSpPr txBox="1"/>
          <p:nvPr/>
        </p:nvSpPr>
        <p:spPr>
          <a:xfrm>
            <a:off x="1403648" y="233586"/>
            <a:ext cx="633670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Poliedros: Prismas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" name="Modelo 3D 11" descr="Prisma Triangular Cinza-Escuro">
                <a:extLst>
                  <a:ext uri="{FF2B5EF4-FFF2-40B4-BE49-F238E27FC236}">
                    <a16:creationId xmlns:a16="http://schemas.microsoft.com/office/drawing/2014/main" id="{807EE779-5718-4739-A8D9-2891067415B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81646874"/>
                  </p:ext>
                </p:extLst>
              </p:nvPr>
            </p:nvGraphicFramePr>
            <p:xfrm>
              <a:off x="3995936" y="2158872"/>
              <a:ext cx="787608" cy="128041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787608" cy="1280418"/>
                    </a:xfrm>
                    <a:prstGeom prst="rect">
                      <a:avLst/>
                    </a:prstGeom>
                  </am3d:spPr>
                  <am3d:camera>
                    <am3d:pos x="0" y="0" z="6850851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284259" d="1000000"/>
                    <am3d:preTrans dx="-103008" dy="-11011706" dz="-5212029"/>
                    <am3d:scale>
                      <am3d:sx n="1000000" d="1000000"/>
                      <am3d:sy n="1000000" d="1000000"/>
                      <am3d:sz n="1000000" d="1000000"/>
                    </am3d:scale>
                    <am3d:rot ax="1540516" ay="-459001" az="-219711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01263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" name="Modelo 3D 11" descr="Prisma Triangular Cinza-Escuro">
                <a:extLst>
                  <a:ext uri="{FF2B5EF4-FFF2-40B4-BE49-F238E27FC236}">
                    <a16:creationId xmlns:a16="http://schemas.microsoft.com/office/drawing/2014/main" id="{807EE779-5718-4739-A8D9-2891067415B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936" y="2158872"/>
                <a:ext cx="787608" cy="12804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nacoide Branco">
                <a:extLst>
                  <a:ext uri="{FF2B5EF4-FFF2-40B4-BE49-F238E27FC236}">
                    <a16:creationId xmlns:a16="http://schemas.microsoft.com/office/drawing/2014/main" id="{3D5633B8-4CEF-492D-AD7C-FFCAC360B40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43926892"/>
                  </p:ext>
                </p:extLst>
              </p:nvPr>
            </p:nvGraphicFramePr>
            <p:xfrm>
              <a:off x="4067944" y="3151244"/>
              <a:ext cx="787607" cy="802552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787607" cy="802552"/>
                    </a:xfrm>
                    <a:prstGeom prst="rect">
                      <a:avLst/>
                    </a:prstGeom>
                  </am3d:spPr>
                  <am3d:camera>
                    <am3d:pos x="0" y="0" z="628240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0914" d="1000000"/>
                    <am3d:preTrans dx="0" dy="-13241296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225549" ay="1914169" az="1306831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86810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nacoide Branco">
                <a:extLst>
                  <a:ext uri="{FF2B5EF4-FFF2-40B4-BE49-F238E27FC236}">
                    <a16:creationId xmlns:a16="http://schemas.microsoft.com/office/drawing/2014/main" id="{3D5633B8-4CEF-492D-AD7C-FFCAC360B40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67944" y="3151244"/>
                <a:ext cx="787607" cy="8025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risma Hexagonal E Base Vermelha">
                <a:extLst>
                  <a:ext uri="{FF2B5EF4-FFF2-40B4-BE49-F238E27FC236}">
                    <a16:creationId xmlns:a16="http://schemas.microsoft.com/office/drawing/2014/main" id="{0DA4B1F1-E162-4C9F-B266-7817780F8D3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94900350"/>
                  </p:ext>
                </p:extLst>
              </p:nvPr>
            </p:nvGraphicFramePr>
            <p:xfrm>
              <a:off x="4168053" y="3977707"/>
              <a:ext cx="567716" cy="709475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567716" cy="709475"/>
                    </a:xfrm>
                    <a:prstGeom prst="rect">
                      <a:avLst/>
                    </a:prstGeom>
                  </am3d:spPr>
                  <am3d:camera>
                    <am3d:pos x="0" y="0" z="7792757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8614" d="1000000"/>
                    <am3d:preTrans dx="36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367412" ay="-93350" az="-39215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76691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risma Hexagonal E Base Vermelha">
                <a:extLst>
                  <a:ext uri="{FF2B5EF4-FFF2-40B4-BE49-F238E27FC236}">
                    <a16:creationId xmlns:a16="http://schemas.microsoft.com/office/drawing/2014/main" id="{0DA4B1F1-E162-4C9F-B266-7817780F8D3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68053" y="3977707"/>
                <a:ext cx="567716" cy="709475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CaixaDeTexto 19">
            <a:extLst>
              <a:ext uri="{FF2B5EF4-FFF2-40B4-BE49-F238E27FC236}">
                <a16:creationId xmlns:a16="http://schemas.microsoft.com/office/drawing/2014/main" id="{811EFDD8-FE0D-4211-84E9-2FF66060742A}"/>
              </a:ext>
            </a:extLst>
          </p:cNvPr>
          <p:cNvSpPr txBox="1"/>
          <p:nvPr/>
        </p:nvSpPr>
        <p:spPr>
          <a:xfrm>
            <a:off x="395288" y="1203598"/>
            <a:ext cx="83534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</a:t>
            </a:r>
            <a:r>
              <a:rPr lang="pt-BR" sz="2000" b="1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rismas:</a:t>
            </a:r>
            <a:r>
              <a:rPr lang="pt-BR" sz="200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 têm </a:t>
            </a:r>
            <a:r>
              <a:rPr lang="pt-BR" sz="2000" b="1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duas </a:t>
            </a:r>
            <a:r>
              <a:rPr lang="pt-BR" sz="2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bases iguais </a:t>
            </a: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(</a:t>
            </a:r>
            <a:r>
              <a:rPr lang="pt-BR" sz="200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inferior e superior), e suas </a:t>
            </a:r>
            <a:r>
              <a:rPr lang="pt-BR" sz="2000" b="1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faces laterais </a:t>
            </a:r>
            <a:r>
              <a:rPr lang="pt-BR" sz="200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são sempre </a:t>
            </a:r>
            <a:r>
              <a:rPr lang="pt-BR" sz="2000" b="1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retângulos</a:t>
            </a:r>
            <a:r>
              <a:rPr lang="pt-BR" sz="200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0955595-44AB-40F6-91F1-FB18F0AF73B1}"/>
              </a:ext>
            </a:extLst>
          </p:cNvPr>
          <p:cNvSpPr txBox="1"/>
          <p:nvPr/>
        </p:nvSpPr>
        <p:spPr>
          <a:xfrm>
            <a:off x="395287" y="1995686"/>
            <a:ext cx="8353425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Os prismas recebem o </a:t>
            </a:r>
            <a:r>
              <a:rPr lang="pt-BR" sz="2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nome</a:t>
            </a: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conforme o formato de suas </a:t>
            </a:r>
            <a:r>
              <a:rPr lang="pt-BR" sz="2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bases</a:t>
            </a: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. Exemplos:</a:t>
            </a:r>
          </a:p>
          <a:p>
            <a:pPr marL="180000" indent="-180000" algn="just">
              <a:spcAft>
                <a:spcPts val="2400"/>
              </a:spcAft>
              <a:buClr>
                <a:srgbClr val="2E58A6"/>
              </a:buClr>
              <a:buSzPct val="130000"/>
              <a:buFont typeface="Arial" panose="020B0604020202020204" pitchFamily="34" charset="0"/>
              <a:buChar char="•"/>
            </a:pPr>
            <a:r>
              <a:rPr lang="pt-BR" sz="200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Prisma de base triangular</a:t>
            </a:r>
            <a:endParaRPr lang="pt-BR" sz="2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180000" indent="-180000" algn="just">
              <a:spcAft>
                <a:spcPts val="2400"/>
              </a:spcAft>
              <a:buClr>
                <a:srgbClr val="2E58A6"/>
              </a:buClr>
              <a:buSzPct val="130000"/>
              <a:buFont typeface="Arial" panose="020B0604020202020204" pitchFamily="34" charset="0"/>
              <a:buChar char="•"/>
            </a:pP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Prisma de base retangular</a:t>
            </a:r>
          </a:p>
          <a:p>
            <a:pPr marL="180000" indent="-180000" algn="just">
              <a:spcAft>
                <a:spcPts val="2400"/>
              </a:spcAft>
              <a:buClr>
                <a:srgbClr val="2E58A6"/>
              </a:buClr>
              <a:buSzPct val="130000"/>
              <a:buFont typeface="Arial" panose="020B0604020202020204" pitchFamily="34" charset="0"/>
              <a:buChar char="•"/>
            </a:pPr>
            <a:r>
              <a:rPr lang="pt-BR" sz="200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Prisma de base hexagonal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48F6DD0-A908-4998-8A3C-319DC36BBD76}"/>
              </a:ext>
            </a:extLst>
          </p:cNvPr>
          <p:cNvSpPr txBox="1"/>
          <p:nvPr/>
        </p:nvSpPr>
        <p:spPr>
          <a:xfrm>
            <a:off x="427779" y="4702017"/>
            <a:ext cx="2518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Elaborado especialmente para o CMSP.</a:t>
            </a:r>
          </a:p>
        </p:txBody>
      </p:sp>
    </p:spTree>
    <p:extLst>
      <p:ext uri="{BB962C8B-B14F-4D97-AF65-F5344CB8AC3E}">
        <p14:creationId xmlns:p14="http://schemas.microsoft.com/office/powerpoint/2010/main" val="3678816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Agrupar 25">
            <a:extLst>
              <a:ext uri="{FF2B5EF4-FFF2-40B4-BE49-F238E27FC236}">
                <a16:creationId xmlns:a16="http://schemas.microsoft.com/office/drawing/2014/main" id="{6FCC5D53-5748-410E-BA16-B1264AB13052}"/>
              </a:ext>
            </a:extLst>
          </p:cNvPr>
          <p:cNvGrpSpPr/>
          <p:nvPr/>
        </p:nvGrpSpPr>
        <p:grpSpPr>
          <a:xfrm>
            <a:off x="4871105" y="2183110"/>
            <a:ext cx="1861135" cy="1389580"/>
            <a:chOff x="4177872" y="3720529"/>
            <a:chExt cx="1861135" cy="1389580"/>
          </a:xfrm>
        </p:grpSpPr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id="{1937CC35-ECFD-4754-AC93-CF529A1CFB94}"/>
                </a:ext>
              </a:extLst>
            </p:cNvPr>
            <p:cNvSpPr/>
            <p:nvPr/>
          </p:nvSpPr>
          <p:spPr>
            <a:xfrm>
              <a:off x="4249153" y="4018082"/>
              <a:ext cx="503822" cy="792088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Retângulo 28">
              <a:extLst>
                <a:ext uri="{FF2B5EF4-FFF2-40B4-BE49-F238E27FC236}">
                  <a16:creationId xmlns:a16="http://schemas.microsoft.com/office/drawing/2014/main" id="{A50A0509-85B0-4DC4-8AA5-EEDAB79248CC}"/>
                </a:ext>
              </a:extLst>
            </p:cNvPr>
            <p:cNvSpPr/>
            <p:nvPr/>
          </p:nvSpPr>
          <p:spPr>
            <a:xfrm>
              <a:off x="4745559" y="4018082"/>
              <a:ext cx="198938" cy="792088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Hexágono 29">
              <a:extLst>
                <a:ext uri="{FF2B5EF4-FFF2-40B4-BE49-F238E27FC236}">
                  <a16:creationId xmlns:a16="http://schemas.microsoft.com/office/drawing/2014/main" id="{F8BEE773-7F11-4EAB-8754-CFAA19927752}"/>
                </a:ext>
              </a:extLst>
            </p:cNvPr>
            <p:cNvSpPr/>
            <p:nvPr/>
          </p:nvSpPr>
          <p:spPr>
            <a:xfrm>
              <a:off x="4177872" y="3720529"/>
              <a:ext cx="641778" cy="294204"/>
            </a:xfrm>
            <a:prstGeom prst="hexagon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id="{78F48101-9A22-462B-A867-4F937CA424FD}"/>
                </a:ext>
              </a:extLst>
            </p:cNvPr>
            <p:cNvSpPr/>
            <p:nvPr/>
          </p:nvSpPr>
          <p:spPr>
            <a:xfrm>
              <a:off x="4944497" y="4018968"/>
              <a:ext cx="198938" cy="792088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Retângulo 35">
              <a:extLst>
                <a:ext uri="{FF2B5EF4-FFF2-40B4-BE49-F238E27FC236}">
                  <a16:creationId xmlns:a16="http://schemas.microsoft.com/office/drawing/2014/main" id="{AA19DAC0-4E6A-4819-AD2E-FBFF3D83E81D}"/>
                </a:ext>
              </a:extLst>
            </p:cNvPr>
            <p:cNvSpPr/>
            <p:nvPr/>
          </p:nvSpPr>
          <p:spPr>
            <a:xfrm>
              <a:off x="5840069" y="4018082"/>
              <a:ext cx="198938" cy="792088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Retângulo 36">
              <a:extLst>
                <a:ext uri="{FF2B5EF4-FFF2-40B4-BE49-F238E27FC236}">
                  <a16:creationId xmlns:a16="http://schemas.microsoft.com/office/drawing/2014/main" id="{85AD2837-2AF3-4585-81D5-2F5728814764}"/>
                </a:ext>
              </a:extLst>
            </p:cNvPr>
            <p:cNvSpPr/>
            <p:nvPr/>
          </p:nvSpPr>
          <p:spPr>
            <a:xfrm>
              <a:off x="5641131" y="4018082"/>
              <a:ext cx="198938" cy="792088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Retângulo 37">
              <a:extLst>
                <a:ext uri="{FF2B5EF4-FFF2-40B4-BE49-F238E27FC236}">
                  <a16:creationId xmlns:a16="http://schemas.microsoft.com/office/drawing/2014/main" id="{F23F676E-2A00-4C7C-ABCF-1B4967AF18A2}"/>
                </a:ext>
              </a:extLst>
            </p:cNvPr>
            <p:cNvSpPr/>
            <p:nvPr/>
          </p:nvSpPr>
          <p:spPr>
            <a:xfrm>
              <a:off x="5136019" y="4018082"/>
              <a:ext cx="503822" cy="792088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Hexágono 38">
              <a:extLst>
                <a:ext uri="{FF2B5EF4-FFF2-40B4-BE49-F238E27FC236}">
                  <a16:creationId xmlns:a16="http://schemas.microsoft.com/office/drawing/2014/main" id="{BC11128D-5ABB-40BD-8E74-5E291223FD7B}"/>
                </a:ext>
              </a:extLst>
            </p:cNvPr>
            <p:cNvSpPr/>
            <p:nvPr/>
          </p:nvSpPr>
          <p:spPr>
            <a:xfrm>
              <a:off x="4177872" y="4815905"/>
              <a:ext cx="637016" cy="294204"/>
            </a:xfrm>
            <a:prstGeom prst="hexagon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0" name="Modelo 3D 39" descr="Prisma Hexagonal E Base Vermelha">
                <a:extLst>
                  <a:ext uri="{FF2B5EF4-FFF2-40B4-BE49-F238E27FC236}">
                    <a16:creationId xmlns:a16="http://schemas.microsoft.com/office/drawing/2014/main" id="{1579716F-8DD6-45D7-8470-56FA2A01541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69091028"/>
                  </p:ext>
                </p:extLst>
              </p:nvPr>
            </p:nvGraphicFramePr>
            <p:xfrm>
              <a:off x="414337" y="2317153"/>
              <a:ext cx="911534" cy="1139144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911534" cy="1139144"/>
                    </a:xfrm>
                    <a:prstGeom prst="rect">
                      <a:avLst/>
                    </a:prstGeom>
                  </am3d:spPr>
                  <am3d:camera>
                    <am3d:pos x="0" y="0" z="7792757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8614" d="1000000"/>
                    <am3d:preTrans dx="36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367412" ay="-93350" az="-3921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4469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0" name="Modelo 3D 39" descr="Prisma Hexagonal E Base Vermelha">
                <a:extLst>
                  <a:ext uri="{FF2B5EF4-FFF2-40B4-BE49-F238E27FC236}">
                    <a16:creationId xmlns:a16="http://schemas.microsoft.com/office/drawing/2014/main" id="{1579716F-8DD6-45D7-8470-56FA2A01541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4337" y="2317153"/>
                <a:ext cx="911534" cy="1139144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upo 12">
            <a:extLst>
              <a:ext uri="{FF2B5EF4-FFF2-40B4-BE49-F238E27FC236}">
                <a16:creationId xmlns:a16="http://schemas.microsoft.com/office/drawing/2014/main" id="{8ABCB4BF-53E9-42FA-B37C-CF953F60883A}"/>
              </a:ext>
            </a:extLst>
          </p:cNvPr>
          <p:cNvGrpSpPr/>
          <p:nvPr/>
        </p:nvGrpSpPr>
        <p:grpSpPr>
          <a:xfrm>
            <a:off x="1403648" y="-2773"/>
            <a:ext cx="6336704" cy="741056"/>
            <a:chOff x="1403648" y="-2773"/>
            <a:chExt cx="6336704" cy="741056"/>
          </a:xfrm>
        </p:grpSpPr>
        <p:sp>
          <p:nvSpPr>
            <p:cNvPr id="43" name="Retângulo 42">
              <a:extLst>
                <a:ext uri="{FF2B5EF4-FFF2-40B4-BE49-F238E27FC236}">
                  <a16:creationId xmlns:a16="http://schemas.microsoft.com/office/drawing/2014/main" id="{6279AB7D-685C-40E8-9542-126090143943}"/>
                </a:ext>
              </a:extLst>
            </p:cNvPr>
            <p:cNvSpPr/>
            <p:nvPr/>
          </p:nvSpPr>
          <p:spPr>
            <a:xfrm>
              <a:off x="1403648" y="195486"/>
              <a:ext cx="6336704" cy="542797"/>
            </a:xfrm>
            <a:prstGeom prst="rect">
              <a:avLst/>
            </a:prstGeom>
            <a:solidFill>
              <a:srgbClr val="2E58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3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Prisma de Base Hexagonal</a:t>
              </a:r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9EE5E249-66E0-4CF2-B3B7-31202A2523E9}"/>
                </a:ext>
              </a:extLst>
            </p:cNvPr>
            <p:cNvSpPr/>
            <p:nvPr/>
          </p:nvSpPr>
          <p:spPr>
            <a:xfrm>
              <a:off x="1403648" y="-2773"/>
              <a:ext cx="6336704" cy="195486"/>
            </a:xfrm>
            <a:prstGeom prst="rect">
              <a:avLst/>
            </a:prstGeom>
            <a:solidFill>
              <a:srgbClr val="1109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4A8640A8-9D71-47BA-9478-B5A238F07D37}"/>
              </a:ext>
            </a:extLst>
          </p:cNvPr>
          <p:cNvSpPr txBox="1"/>
          <p:nvPr/>
        </p:nvSpPr>
        <p:spPr>
          <a:xfrm>
            <a:off x="395287" y="1207358"/>
            <a:ext cx="83534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Prisma de </a:t>
            </a:r>
            <a:r>
              <a:rPr lang="pt-BR" sz="2000" b="1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base hexagonal</a:t>
            </a:r>
            <a:r>
              <a:rPr lang="pt-BR" sz="200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		Planificação</a:t>
            </a:r>
          </a:p>
        </p:txBody>
      </p: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5A7725C0-EC95-4032-8921-54445433945D}"/>
              </a:ext>
            </a:extLst>
          </p:cNvPr>
          <p:cNvCxnSpPr>
            <a:cxnSpLocks/>
          </p:cNvCxnSpPr>
          <p:nvPr/>
        </p:nvCxnSpPr>
        <p:spPr>
          <a:xfrm flipH="1">
            <a:off x="994139" y="2446624"/>
            <a:ext cx="625533" cy="699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97058F34-2381-46CE-ADC6-36E9ECA543B0}"/>
              </a:ext>
            </a:extLst>
          </p:cNvPr>
          <p:cNvCxnSpPr>
            <a:cxnSpLocks/>
          </p:cNvCxnSpPr>
          <p:nvPr/>
        </p:nvCxnSpPr>
        <p:spPr>
          <a:xfrm flipH="1">
            <a:off x="1274565" y="2851378"/>
            <a:ext cx="340395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986F20E2-6A61-47F0-9DBD-3CF62D7FDD24}"/>
              </a:ext>
            </a:extLst>
          </p:cNvPr>
          <p:cNvCxnSpPr>
            <a:cxnSpLocks/>
          </p:cNvCxnSpPr>
          <p:nvPr/>
        </p:nvCxnSpPr>
        <p:spPr>
          <a:xfrm flipH="1" flipV="1">
            <a:off x="1215958" y="3333154"/>
            <a:ext cx="399002" cy="1225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de Seta Reta 54">
            <a:extLst>
              <a:ext uri="{FF2B5EF4-FFF2-40B4-BE49-F238E27FC236}">
                <a16:creationId xmlns:a16="http://schemas.microsoft.com/office/drawing/2014/main" id="{082B0097-41BC-44CB-93AA-57409DABED06}"/>
              </a:ext>
            </a:extLst>
          </p:cNvPr>
          <p:cNvCxnSpPr>
            <a:cxnSpLocks/>
          </p:cNvCxnSpPr>
          <p:nvPr/>
        </p:nvCxnSpPr>
        <p:spPr>
          <a:xfrm flipV="1">
            <a:off x="4519592" y="2330212"/>
            <a:ext cx="526205" cy="1164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6557E379-460C-477E-81A3-11B43A96E320}"/>
              </a:ext>
            </a:extLst>
          </p:cNvPr>
          <p:cNvCxnSpPr>
            <a:cxnSpLocks/>
          </p:cNvCxnSpPr>
          <p:nvPr/>
        </p:nvCxnSpPr>
        <p:spPr>
          <a:xfrm>
            <a:off x="4658905" y="2916606"/>
            <a:ext cx="409266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>
            <a:extLst>
              <a:ext uri="{FF2B5EF4-FFF2-40B4-BE49-F238E27FC236}">
                <a16:creationId xmlns:a16="http://schemas.microsoft.com/office/drawing/2014/main" id="{B9AB682A-7129-4E69-9634-90CD6278127D}"/>
              </a:ext>
            </a:extLst>
          </p:cNvPr>
          <p:cNvCxnSpPr>
            <a:cxnSpLocks/>
          </p:cNvCxnSpPr>
          <p:nvPr/>
        </p:nvCxnSpPr>
        <p:spPr>
          <a:xfrm>
            <a:off x="4473193" y="3352550"/>
            <a:ext cx="674871" cy="8781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2356A90C-549A-4FC8-B858-BF0EAE5743A9}"/>
              </a:ext>
            </a:extLst>
          </p:cNvPr>
          <p:cNvSpPr txBox="1"/>
          <p:nvPr/>
        </p:nvSpPr>
        <p:spPr>
          <a:xfrm>
            <a:off x="774717" y="2298473"/>
            <a:ext cx="45720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8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Base superior </a:t>
            </a:r>
            <a:r>
              <a:rPr lang="pt-BR" sz="18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hexagonal</a:t>
            </a:r>
          </a:p>
          <a:p>
            <a:pPr algn="ctr">
              <a:spcAft>
                <a:spcPts val="1200"/>
              </a:spcAft>
            </a:pPr>
            <a:r>
              <a:rPr lang="pt-BR" sz="180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Faces laterais retangulares</a:t>
            </a:r>
          </a:p>
          <a:p>
            <a:pPr algn="ctr">
              <a:spcAft>
                <a:spcPts val="1200"/>
              </a:spcAft>
            </a:pPr>
            <a:r>
              <a:rPr lang="pt-BR" sz="18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Base inferior </a:t>
            </a:r>
            <a:r>
              <a:rPr lang="pt-BR" sz="18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hexagonal</a:t>
            </a:r>
            <a:endParaRPr lang="pt-BR" sz="1800" b="1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63AE5C4-C149-4697-AB71-20297B43934C}"/>
              </a:ext>
            </a:extLst>
          </p:cNvPr>
          <p:cNvSpPr txBox="1"/>
          <p:nvPr/>
        </p:nvSpPr>
        <p:spPr>
          <a:xfrm>
            <a:off x="427779" y="4702017"/>
            <a:ext cx="2518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Elaborado especialmente para o CMSP.</a:t>
            </a:r>
          </a:p>
        </p:txBody>
      </p:sp>
    </p:spTree>
    <p:extLst>
      <p:ext uri="{BB962C8B-B14F-4D97-AF65-F5344CB8AC3E}">
        <p14:creationId xmlns:p14="http://schemas.microsoft.com/office/powerpoint/2010/main" val="1299437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/>
          <p:cNvGrpSpPr/>
          <p:nvPr/>
        </p:nvGrpSpPr>
        <p:grpSpPr>
          <a:xfrm>
            <a:off x="1403648" y="-2773"/>
            <a:ext cx="6336704" cy="741056"/>
            <a:chOff x="1403648" y="-2773"/>
            <a:chExt cx="6336704" cy="741056"/>
          </a:xfrm>
        </p:grpSpPr>
        <p:sp>
          <p:nvSpPr>
            <p:cNvPr id="18" name="Retângulo 17"/>
            <p:cNvSpPr/>
            <p:nvPr/>
          </p:nvSpPr>
          <p:spPr>
            <a:xfrm>
              <a:off x="1403648" y="195486"/>
              <a:ext cx="6336704" cy="542797"/>
            </a:xfrm>
            <a:prstGeom prst="rect">
              <a:avLst/>
            </a:prstGeom>
            <a:solidFill>
              <a:srgbClr val="2E58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3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Atividade 3 – parte I – p. 59</a:t>
              </a:r>
            </a:p>
          </p:txBody>
        </p:sp>
        <p:sp>
          <p:nvSpPr>
            <p:cNvPr id="19" name="Retângulo 18"/>
            <p:cNvSpPr/>
            <p:nvPr/>
          </p:nvSpPr>
          <p:spPr>
            <a:xfrm>
              <a:off x="1403648" y="-2773"/>
              <a:ext cx="6336704" cy="195486"/>
            </a:xfrm>
            <a:prstGeom prst="rect">
              <a:avLst/>
            </a:prstGeom>
            <a:solidFill>
              <a:srgbClr val="1109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3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395287" y="1200604"/>
            <a:ext cx="83534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 seguir, estão algumas planificações de formas geométricas espaciais. Observe, com atenção, cada uma delas e informe a que figura espacial se refere.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D41DC5CA-4457-407B-BD16-0186B576D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33" y="2452402"/>
            <a:ext cx="2932434" cy="2063564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3D9E93A5-B8F2-4328-B5C6-22C00596D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026" y="2452402"/>
            <a:ext cx="1683947" cy="2063564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395287" y="4701793"/>
            <a:ext cx="63373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Aprender Sempre, 2021. Caderno do Aluno, Matemática, 2ª série EM, vol. 1, p. 59.</a:t>
            </a:r>
          </a:p>
        </p:txBody>
      </p:sp>
    </p:spTree>
    <p:extLst>
      <p:ext uri="{BB962C8B-B14F-4D97-AF65-F5344CB8AC3E}">
        <p14:creationId xmlns:p14="http://schemas.microsoft.com/office/powerpoint/2010/main" val="1643936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/>
          <p:cNvGrpSpPr/>
          <p:nvPr/>
        </p:nvGrpSpPr>
        <p:grpSpPr>
          <a:xfrm>
            <a:off x="1403648" y="-2773"/>
            <a:ext cx="6336704" cy="741056"/>
            <a:chOff x="1403648" y="-2773"/>
            <a:chExt cx="6336704" cy="741056"/>
          </a:xfrm>
        </p:grpSpPr>
        <p:sp>
          <p:nvSpPr>
            <p:cNvPr id="18" name="Retângulo 17"/>
            <p:cNvSpPr/>
            <p:nvPr/>
          </p:nvSpPr>
          <p:spPr>
            <a:xfrm>
              <a:off x="1403648" y="195486"/>
              <a:ext cx="6336704" cy="542797"/>
            </a:xfrm>
            <a:prstGeom prst="rect">
              <a:avLst/>
            </a:prstGeom>
            <a:solidFill>
              <a:srgbClr val="2E58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3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Resolução da Atividade 3 – parte I</a:t>
              </a:r>
            </a:p>
          </p:txBody>
        </p:sp>
        <p:sp>
          <p:nvSpPr>
            <p:cNvPr id="19" name="Retângulo 18"/>
            <p:cNvSpPr/>
            <p:nvPr/>
          </p:nvSpPr>
          <p:spPr>
            <a:xfrm>
              <a:off x="1403648" y="-2773"/>
              <a:ext cx="6336704" cy="195486"/>
            </a:xfrm>
            <a:prstGeom prst="rect">
              <a:avLst/>
            </a:prstGeom>
            <a:solidFill>
              <a:srgbClr val="1109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2483768" y="3500692"/>
            <a:ext cx="4392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00B05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Prisma de base quadrada (cubo)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D7CA78F8-9C8B-44E6-B70F-469C05B05B5C}"/>
              </a:ext>
            </a:extLst>
          </p:cNvPr>
          <p:cNvGrpSpPr/>
          <p:nvPr/>
        </p:nvGrpSpPr>
        <p:grpSpPr>
          <a:xfrm>
            <a:off x="433456" y="2676265"/>
            <a:ext cx="1758647" cy="2038781"/>
            <a:chOff x="2719602" y="795205"/>
            <a:chExt cx="1124254" cy="1303336"/>
          </a:xfrm>
        </p:grpSpPr>
        <p:pic>
          <p:nvPicPr>
            <p:cNvPr id="20" name="Imagem 19">
              <a:extLst>
                <a:ext uri="{FF2B5EF4-FFF2-40B4-BE49-F238E27FC236}">
                  <a16:creationId xmlns:a16="http://schemas.microsoft.com/office/drawing/2014/main" id="{06708466-34E5-4301-A126-D6C071EAB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26473" y="801715"/>
              <a:ext cx="1117383" cy="1296826"/>
            </a:xfrm>
            <a:prstGeom prst="rect">
              <a:avLst/>
            </a:prstGeom>
          </p:spPr>
        </p:pic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F8E6D94A-9DBD-46AF-97A5-D6597D004A6E}"/>
                </a:ext>
              </a:extLst>
            </p:cNvPr>
            <p:cNvSpPr/>
            <p:nvPr/>
          </p:nvSpPr>
          <p:spPr>
            <a:xfrm>
              <a:off x="2719602" y="795205"/>
              <a:ext cx="1124254" cy="1296826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457C0AA5-6115-4B91-AB50-2D949E31B1E2}"/>
              </a:ext>
            </a:extLst>
          </p:cNvPr>
          <p:cNvGrpSpPr/>
          <p:nvPr/>
        </p:nvGrpSpPr>
        <p:grpSpPr>
          <a:xfrm>
            <a:off x="436334" y="1208524"/>
            <a:ext cx="1903418" cy="1332272"/>
            <a:chOff x="4191498" y="783212"/>
            <a:chExt cx="1903418" cy="1332272"/>
          </a:xfrm>
        </p:grpSpPr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481DDCD3-B7D0-45CE-A3A0-9B15BCEF5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01687" y="783212"/>
              <a:ext cx="1893229" cy="1332272"/>
            </a:xfrm>
            <a:prstGeom prst="rect">
              <a:avLst/>
            </a:prstGeom>
          </p:spPr>
        </p:pic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A37A1526-41DA-4337-95BD-80129EDF7D8A}"/>
                </a:ext>
              </a:extLst>
            </p:cNvPr>
            <p:cNvSpPr/>
            <p:nvPr/>
          </p:nvSpPr>
          <p:spPr>
            <a:xfrm>
              <a:off x="4191498" y="801715"/>
              <a:ext cx="1893229" cy="1296826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30E195B-B0D9-492A-8D39-4970452D32D7}"/>
              </a:ext>
            </a:extLst>
          </p:cNvPr>
          <p:cNvSpPr txBox="1"/>
          <p:nvPr/>
        </p:nvSpPr>
        <p:spPr>
          <a:xfrm>
            <a:off x="2483768" y="1674605"/>
            <a:ext cx="42488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rgbClr val="2E58A6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Prisma de base retangular</a:t>
            </a:r>
            <a:endParaRPr lang="pt-BR" sz="2000" b="1" dirty="0">
              <a:solidFill>
                <a:srgbClr val="2E58A6"/>
              </a:solidFill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557EE1E-9E74-4C69-9423-F518D5E2A2E5}"/>
              </a:ext>
            </a:extLst>
          </p:cNvPr>
          <p:cNvSpPr txBox="1"/>
          <p:nvPr/>
        </p:nvSpPr>
        <p:spPr>
          <a:xfrm>
            <a:off x="395287" y="4701793"/>
            <a:ext cx="63373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Aprender Sempre, 2021. Caderno do Aluno, Matemática, 2ª série EM, vol. 1, p. 59.</a:t>
            </a:r>
          </a:p>
        </p:txBody>
      </p:sp>
    </p:spTree>
    <p:extLst>
      <p:ext uri="{BB962C8B-B14F-4D97-AF65-F5344CB8AC3E}">
        <p14:creationId xmlns:p14="http://schemas.microsoft.com/office/powerpoint/2010/main" val="533181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" name="Modelo 3D 11" descr="Pirâmide Cinza-Claro">
                <a:extLst>
                  <a:ext uri="{FF2B5EF4-FFF2-40B4-BE49-F238E27FC236}">
                    <a16:creationId xmlns:a16="http://schemas.microsoft.com/office/drawing/2014/main" id="{C0A51D7E-C888-42FD-9241-115B229F181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54747404"/>
                  </p:ext>
                </p:extLst>
              </p:nvPr>
            </p:nvGraphicFramePr>
            <p:xfrm>
              <a:off x="4091778" y="3204684"/>
              <a:ext cx="807177" cy="808061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807177" cy="808061"/>
                    </a:xfrm>
                    <a:prstGeom prst="rect">
                      <a:avLst/>
                    </a:prstGeom>
                  </am3d:spPr>
                  <am3d:camera>
                    <am3d:pos x="0" y="0" z="7096067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134103" d="1000000"/>
                    <am3d:preTrans dx="0" dy="-10695087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1230697" ay="902637" az="-332783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1862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" name="Modelo 3D 11" descr="Pirâmide Cinza-Claro">
                <a:extLst>
                  <a:ext uri="{FF2B5EF4-FFF2-40B4-BE49-F238E27FC236}">
                    <a16:creationId xmlns:a16="http://schemas.microsoft.com/office/drawing/2014/main" id="{C0A51D7E-C888-42FD-9241-115B229F18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91778" y="3204684"/>
                <a:ext cx="807177" cy="8080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o 3D 1" descr="Tetraedro Cinza-Escuro">
                <a:extLst>
                  <a:ext uri="{FF2B5EF4-FFF2-40B4-BE49-F238E27FC236}">
                    <a16:creationId xmlns:a16="http://schemas.microsoft.com/office/drawing/2014/main" id="{99F283D3-C1E7-4C62-801D-E2A60E9CCAB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67875451"/>
                  </p:ext>
                </p:extLst>
              </p:nvPr>
            </p:nvGraphicFramePr>
            <p:xfrm>
              <a:off x="3851920" y="2355809"/>
              <a:ext cx="1047035" cy="848875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047035" cy="848875"/>
                    </a:xfrm>
                    <a:prstGeom prst="rect">
                      <a:avLst/>
                    </a:prstGeom>
                  </am3d:spPr>
                  <am3d:camera>
                    <am3d:pos x="0" y="0" z="7427198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66890" d="1000000"/>
                    <am3d:preTrans dx="531" dy="-15492322" dz="-5131587"/>
                    <am3d:scale>
                      <am3d:sx n="1000000" d="1000000"/>
                      <am3d:sy n="1000000" d="1000000"/>
                      <am3d:sz n="1000000" d="1000000"/>
                    </am3d:scale>
                    <am3d:rot ax="-1635589" ay="-1637929" az="797739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133490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o 3D 1" descr="Tetraedro Cinza-Escuro">
                <a:extLst>
                  <a:ext uri="{FF2B5EF4-FFF2-40B4-BE49-F238E27FC236}">
                    <a16:creationId xmlns:a16="http://schemas.microsoft.com/office/drawing/2014/main" id="{99F283D3-C1E7-4C62-801D-E2A60E9CCAB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51920" y="2355809"/>
                <a:ext cx="1047035" cy="848875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upo 12">
            <a:extLst>
              <a:ext uri="{FF2B5EF4-FFF2-40B4-BE49-F238E27FC236}">
                <a16:creationId xmlns:a16="http://schemas.microsoft.com/office/drawing/2014/main" id="{D0B64C82-B09F-4F21-96B6-666F5EC4CC77}"/>
              </a:ext>
            </a:extLst>
          </p:cNvPr>
          <p:cNvGrpSpPr/>
          <p:nvPr/>
        </p:nvGrpSpPr>
        <p:grpSpPr>
          <a:xfrm>
            <a:off x="1403648" y="-2773"/>
            <a:ext cx="6336704" cy="741056"/>
            <a:chOff x="1403648" y="-2773"/>
            <a:chExt cx="6336704" cy="741056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0CE614A6-19F2-481A-962F-F01D6B9FB75A}"/>
                </a:ext>
              </a:extLst>
            </p:cNvPr>
            <p:cNvSpPr/>
            <p:nvPr/>
          </p:nvSpPr>
          <p:spPr>
            <a:xfrm>
              <a:off x="1403648" y="195486"/>
              <a:ext cx="6336704" cy="542797"/>
            </a:xfrm>
            <a:prstGeom prst="rect">
              <a:avLst/>
            </a:prstGeom>
            <a:solidFill>
              <a:srgbClr val="2E58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3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Poliedros: Pirâmides</a:t>
              </a: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8942769C-0654-4FB9-8DE6-39F841A794FE}"/>
                </a:ext>
              </a:extLst>
            </p:cNvPr>
            <p:cNvSpPr/>
            <p:nvPr/>
          </p:nvSpPr>
          <p:spPr>
            <a:xfrm>
              <a:off x="1403648" y="-2773"/>
              <a:ext cx="6336704" cy="195486"/>
            </a:xfrm>
            <a:prstGeom prst="rect">
              <a:avLst/>
            </a:prstGeom>
            <a:solidFill>
              <a:srgbClr val="1109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3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453BC4D-75C3-474B-A640-7F01E14732A5}"/>
              </a:ext>
            </a:extLst>
          </p:cNvPr>
          <p:cNvSpPr txBox="1"/>
          <p:nvPr/>
        </p:nvSpPr>
        <p:spPr>
          <a:xfrm>
            <a:off x="395287" y="1203325"/>
            <a:ext cx="8353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Pirâmides:</a:t>
            </a: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pt-BR" sz="2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uma base </a:t>
            </a: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 </a:t>
            </a:r>
            <a:r>
              <a:rPr lang="pt-BR" sz="200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as arestas se encontram em </a:t>
            </a:r>
            <a:r>
              <a:rPr lang="pt-BR" sz="2000" b="1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um único </a:t>
            </a: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ponto, o </a:t>
            </a:r>
            <a:r>
              <a:rPr lang="pt-BR" sz="2000" b="1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vértice</a:t>
            </a: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. Suas </a:t>
            </a:r>
            <a:r>
              <a:rPr lang="pt-BR" sz="2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faces laterais </a:t>
            </a: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são sempre </a:t>
            </a:r>
            <a:r>
              <a:rPr lang="pt-BR" sz="2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triângulos</a:t>
            </a: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B835C26-4BDB-46F9-9091-1DF58927333A}"/>
              </a:ext>
            </a:extLst>
          </p:cNvPr>
          <p:cNvSpPr txBox="1"/>
          <p:nvPr/>
        </p:nvSpPr>
        <p:spPr>
          <a:xfrm>
            <a:off x="395287" y="2067694"/>
            <a:ext cx="835342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As pirâmides recebem o </a:t>
            </a:r>
            <a:r>
              <a:rPr lang="pt-BR" sz="2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nome</a:t>
            </a: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conforme o formato de sua </a:t>
            </a:r>
            <a:r>
              <a:rPr lang="pt-BR" sz="2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base</a:t>
            </a: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. Exemplos:</a:t>
            </a:r>
          </a:p>
          <a:p>
            <a:pPr marL="180000" indent="-180000">
              <a:spcAft>
                <a:spcPts val="2400"/>
              </a:spcAft>
              <a:buClr>
                <a:srgbClr val="2E58A6"/>
              </a:buClr>
              <a:buSzPct val="130000"/>
              <a:buFont typeface="Arial" panose="020B0604020202020204" pitchFamily="34" charset="0"/>
              <a:buChar char="•"/>
            </a:pP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Pirâmide</a:t>
            </a:r>
            <a:r>
              <a:rPr lang="pt-BR" sz="200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de base triangular</a:t>
            </a:r>
            <a:endParaRPr lang="pt-BR" sz="20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180000" indent="-180000">
              <a:spcAft>
                <a:spcPts val="2400"/>
              </a:spcAft>
              <a:buClr>
                <a:srgbClr val="2E58A6"/>
              </a:buClr>
              <a:buSzPct val="130000"/>
              <a:buFont typeface="Arial" panose="020B0604020202020204" pitchFamily="34" charset="0"/>
              <a:buChar char="•"/>
            </a:pP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Pirâmide de base retangular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E9E32B9-9116-446A-982E-95BB0854B7E5}"/>
              </a:ext>
            </a:extLst>
          </p:cNvPr>
          <p:cNvSpPr txBox="1"/>
          <p:nvPr/>
        </p:nvSpPr>
        <p:spPr>
          <a:xfrm>
            <a:off x="427779" y="4702017"/>
            <a:ext cx="2518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Elaborado especialmente para o CMSP.</a:t>
            </a:r>
          </a:p>
        </p:txBody>
      </p:sp>
    </p:spTree>
    <p:extLst>
      <p:ext uri="{BB962C8B-B14F-4D97-AF65-F5344CB8AC3E}">
        <p14:creationId xmlns:p14="http://schemas.microsoft.com/office/powerpoint/2010/main" val="2429881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rupar 10">
            <a:extLst>
              <a:ext uri="{FF2B5EF4-FFF2-40B4-BE49-F238E27FC236}">
                <a16:creationId xmlns:a16="http://schemas.microsoft.com/office/drawing/2014/main" id="{3CAA0FB7-DFE2-4625-B5CF-9B59A599E109}"/>
              </a:ext>
            </a:extLst>
          </p:cNvPr>
          <p:cNvGrpSpPr/>
          <p:nvPr/>
        </p:nvGrpSpPr>
        <p:grpSpPr>
          <a:xfrm>
            <a:off x="467544" y="2211710"/>
            <a:ext cx="6189114" cy="2179807"/>
            <a:chOff x="452455" y="2118368"/>
            <a:chExt cx="6189114" cy="2179807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8" name="Modelo 3D 7" descr="Pirâmide Cinza-Claro">
                  <a:extLst>
                    <a:ext uri="{FF2B5EF4-FFF2-40B4-BE49-F238E27FC236}">
                      <a16:creationId xmlns:a16="http://schemas.microsoft.com/office/drawing/2014/main" id="{33A40C9A-E6EE-43C7-8663-0D84C44C6A6B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52455" y="2118368"/>
                <a:ext cx="1535336" cy="1537017"/>
              </p:xfrm>
              <a:graphic>
                <a:graphicData uri="http://schemas.microsoft.com/office/drawing/2017/model3d">
                  <am3d:model3d r:embed="rId2">
                    <am3d:spPr>
                      <a:xfrm>
                        <a:off x="0" y="0"/>
                        <a:ext cx="1535336" cy="1537017"/>
                      </a:xfrm>
                      <a:prstGeom prst="rect">
                        <a:avLst/>
                      </a:prstGeom>
                    </am3d:spPr>
                    <am3d:camera>
                      <am3d:pos x="0" y="0" z="7096067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4134103" d="1000000"/>
                      <am3d:preTrans dx="0" dy="-10695087" dz="0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-1230697" ay="902637" az="-332783"/>
                      <am3d:postTrans dx="0" dy="0" dz="0"/>
                    </am3d:trans>
                    <am3d:raster rName="Office3DRenderer" rVer="16.0.8326">
                      <am3d:blip r:embed="rId3"/>
                    </am3d:raster>
                    <am3d:objViewport viewportSz="2256398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8" name="Modelo 3D 7" descr="Pirâmide Cinza-Claro">
                  <a:extLst>
                    <a:ext uri="{FF2B5EF4-FFF2-40B4-BE49-F238E27FC236}">
                      <a16:creationId xmlns:a16="http://schemas.microsoft.com/office/drawing/2014/main" id="{33A40C9A-E6EE-43C7-8663-0D84C44C6A6B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67544" y="2211710"/>
                  <a:ext cx="1535336" cy="1537017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AA8B17E5-2021-439B-9431-5D051C4D1BCE}"/>
                </a:ext>
              </a:extLst>
            </p:cNvPr>
            <p:cNvGrpSpPr/>
            <p:nvPr/>
          </p:nvGrpSpPr>
          <p:grpSpPr>
            <a:xfrm>
              <a:off x="4307136" y="2315361"/>
              <a:ext cx="2334433" cy="1982814"/>
              <a:chOff x="3116751" y="2777682"/>
              <a:chExt cx="2334433" cy="1982814"/>
            </a:xfrm>
          </p:grpSpPr>
          <p:sp>
            <p:nvSpPr>
              <p:cNvPr id="2" name="Retângulo 1">
                <a:extLst>
                  <a:ext uri="{FF2B5EF4-FFF2-40B4-BE49-F238E27FC236}">
                    <a16:creationId xmlns:a16="http://schemas.microsoft.com/office/drawing/2014/main" id="{2A9C95DC-4A65-4BB2-A00B-35F712590A7A}"/>
                  </a:ext>
                </a:extLst>
              </p:cNvPr>
              <p:cNvSpPr/>
              <p:nvPr/>
            </p:nvSpPr>
            <p:spPr>
              <a:xfrm>
                <a:off x="3923928" y="3579862"/>
                <a:ext cx="720080" cy="37512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" name="Triângulo isósceles 3">
                <a:extLst>
                  <a:ext uri="{FF2B5EF4-FFF2-40B4-BE49-F238E27FC236}">
                    <a16:creationId xmlns:a16="http://schemas.microsoft.com/office/drawing/2014/main" id="{E45956E3-DC95-4322-8E40-765A9EAFE803}"/>
                  </a:ext>
                </a:extLst>
              </p:cNvPr>
              <p:cNvSpPr/>
              <p:nvPr/>
            </p:nvSpPr>
            <p:spPr>
              <a:xfrm rot="5400000">
                <a:off x="4860032" y="3363839"/>
                <a:ext cx="375128" cy="807177"/>
              </a:xfrm>
              <a:prstGeom prst="triangl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4" name="Triângulo isósceles 13">
                <a:extLst>
                  <a:ext uri="{FF2B5EF4-FFF2-40B4-BE49-F238E27FC236}">
                    <a16:creationId xmlns:a16="http://schemas.microsoft.com/office/drawing/2014/main" id="{973B4BDF-71B9-449B-97E6-251A078A6DA7}"/>
                  </a:ext>
                </a:extLst>
              </p:cNvPr>
              <p:cNvSpPr/>
              <p:nvPr/>
            </p:nvSpPr>
            <p:spPr>
              <a:xfrm rot="16200000">
                <a:off x="3332776" y="3363838"/>
                <a:ext cx="375128" cy="807177"/>
              </a:xfrm>
              <a:prstGeom prst="triangl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6" name="Triângulo isósceles 5">
                <a:extLst>
                  <a:ext uri="{FF2B5EF4-FFF2-40B4-BE49-F238E27FC236}">
                    <a16:creationId xmlns:a16="http://schemas.microsoft.com/office/drawing/2014/main" id="{55D1D97F-C236-4EC9-97AD-9A6E7D6DA262}"/>
                  </a:ext>
                </a:extLst>
              </p:cNvPr>
              <p:cNvSpPr/>
              <p:nvPr/>
            </p:nvSpPr>
            <p:spPr>
              <a:xfrm>
                <a:off x="3913936" y="2777682"/>
                <a:ext cx="734264" cy="801714"/>
              </a:xfrm>
              <a:prstGeom prst="triangl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" name="Triângulo isósceles 15">
                <a:extLst>
                  <a:ext uri="{FF2B5EF4-FFF2-40B4-BE49-F238E27FC236}">
                    <a16:creationId xmlns:a16="http://schemas.microsoft.com/office/drawing/2014/main" id="{D66992E5-49A7-4CEF-B645-F563E79F82B8}"/>
                  </a:ext>
                </a:extLst>
              </p:cNvPr>
              <p:cNvSpPr/>
              <p:nvPr/>
            </p:nvSpPr>
            <p:spPr>
              <a:xfrm rot="10800000">
                <a:off x="3923461" y="3958782"/>
                <a:ext cx="734264" cy="801714"/>
              </a:xfrm>
              <a:prstGeom prst="triangl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13" name="Grupo 12"/>
          <p:cNvGrpSpPr/>
          <p:nvPr/>
        </p:nvGrpSpPr>
        <p:grpSpPr>
          <a:xfrm>
            <a:off x="1403648" y="-2773"/>
            <a:ext cx="6336704" cy="741056"/>
            <a:chOff x="1403648" y="-2773"/>
            <a:chExt cx="6336704" cy="741056"/>
          </a:xfrm>
        </p:grpSpPr>
        <p:sp>
          <p:nvSpPr>
            <p:cNvPr id="18" name="Retângulo 17"/>
            <p:cNvSpPr/>
            <p:nvPr/>
          </p:nvSpPr>
          <p:spPr>
            <a:xfrm>
              <a:off x="1403648" y="195486"/>
              <a:ext cx="6336704" cy="542797"/>
            </a:xfrm>
            <a:prstGeom prst="rect">
              <a:avLst/>
            </a:prstGeom>
            <a:solidFill>
              <a:srgbClr val="2E58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3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Pirâmide de Base Retangular</a:t>
              </a:r>
            </a:p>
          </p:txBody>
        </p:sp>
        <p:sp>
          <p:nvSpPr>
            <p:cNvPr id="19" name="Retângulo 18"/>
            <p:cNvSpPr/>
            <p:nvPr/>
          </p:nvSpPr>
          <p:spPr>
            <a:xfrm>
              <a:off x="1403648" y="-2773"/>
              <a:ext cx="6336704" cy="195486"/>
            </a:xfrm>
            <a:prstGeom prst="rect">
              <a:avLst/>
            </a:prstGeom>
            <a:solidFill>
              <a:srgbClr val="1109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395535" y="1202004"/>
            <a:ext cx="8353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Pirâmide de base </a:t>
            </a:r>
            <a:r>
              <a:rPr lang="pt-BR" sz="20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retangular</a:t>
            </a: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		Planificação</a:t>
            </a:r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4852C551-0F79-4509-8F63-8B381F82D4B4}"/>
              </a:ext>
            </a:extLst>
          </p:cNvPr>
          <p:cNvCxnSpPr>
            <a:cxnSpLocks/>
          </p:cNvCxnSpPr>
          <p:nvPr/>
        </p:nvCxnSpPr>
        <p:spPr>
          <a:xfrm flipH="1">
            <a:off x="1323109" y="2200564"/>
            <a:ext cx="815708" cy="37118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36684A00-E21D-43F6-8971-53FAFA3C50D4}"/>
              </a:ext>
            </a:extLst>
          </p:cNvPr>
          <p:cNvCxnSpPr>
            <a:cxnSpLocks/>
          </p:cNvCxnSpPr>
          <p:nvPr/>
        </p:nvCxnSpPr>
        <p:spPr>
          <a:xfrm>
            <a:off x="4610128" y="2154580"/>
            <a:ext cx="911648" cy="6492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52622C47-5CD1-4AFA-9024-2C909320EEAF}"/>
              </a:ext>
            </a:extLst>
          </p:cNvPr>
          <p:cNvCxnSpPr>
            <a:cxnSpLocks/>
          </p:cNvCxnSpPr>
          <p:nvPr/>
        </p:nvCxnSpPr>
        <p:spPr>
          <a:xfrm flipH="1">
            <a:off x="1482193" y="3082616"/>
            <a:ext cx="950531" cy="3158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45EC7F57-301D-4E07-88CC-C6ED0C1C02E5}"/>
              </a:ext>
            </a:extLst>
          </p:cNvPr>
          <p:cNvCxnSpPr>
            <a:cxnSpLocks/>
          </p:cNvCxnSpPr>
          <p:nvPr/>
        </p:nvCxnSpPr>
        <p:spPr>
          <a:xfrm flipH="1">
            <a:off x="1554200" y="2722728"/>
            <a:ext cx="329866" cy="20891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99216C60-A4E5-4463-9C5A-8C53B02C4469}"/>
              </a:ext>
            </a:extLst>
          </p:cNvPr>
          <p:cNvCxnSpPr>
            <a:cxnSpLocks/>
          </p:cNvCxnSpPr>
          <p:nvPr/>
        </p:nvCxnSpPr>
        <p:spPr>
          <a:xfrm>
            <a:off x="4395992" y="3057988"/>
            <a:ext cx="904876" cy="24878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0EDB34C6-6900-4D21-8443-5ADD3D4044A0}"/>
              </a:ext>
            </a:extLst>
          </p:cNvPr>
          <p:cNvCxnSpPr>
            <a:cxnSpLocks/>
          </p:cNvCxnSpPr>
          <p:nvPr/>
        </p:nvCxnSpPr>
        <p:spPr>
          <a:xfrm>
            <a:off x="4820547" y="2722728"/>
            <a:ext cx="1233436" cy="6757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1D09B48-7731-446E-B807-4F070810E4C9}"/>
              </a:ext>
            </a:extLst>
          </p:cNvPr>
          <p:cNvSpPr txBox="1"/>
          <p:nvPr/>
        </p:nvSpPr>
        <p:spPr>
          <a:xfrm>
            <a:off x="1752953" y="1995852"/>
            <a:ext cx="3235776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80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Vértice</a:t>
            </a:r>
          </a:p>
          <a:p>
            <a:pPr algn="ctr">
              <a:spcAft>
                <a:spcPts val="1200"/>
              </a:spcAft>
            </a:pPr>
            <a:r>
              <a:rPr lang="pt-BR" sz="18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Faces laterais triangulares</a:t>
            </a:r>
            <a:endParaRPr lang="pt-BR" sz="1800" i="0" dirty="0">
              <a:effectLst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algn="ctr">
              <a:spcAft>
                <a:spcPts val="1200"/>
              </a:spcAft>
            </a:pPr>
            <a:r>
              <a:rPr lang="pt-BR" sz="180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Base </a:t>
            </a:r>
            <a:r>
              <a:rPr lang="pt-BR" sz="1800" b="1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retangular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26DC6FD-3B1B-4C79-978B-F80BD3E6A2A5}"/>
              </a:ext>
            </a:extLst>
          </p:cNvPr>
          <p:cNvSpPr txBox="1"/>
          <p:nvPr/>
        </p:nvSpPr>
        <p:spPr>
          <a:xfrm>
            <a:off x="427779" y="4702017"/>
            <a:ext cx="2518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Elaborado especialmente para o CMSP.</a:t>
            </a:r>
          </a:p>
        </p:txBody>
      </p:sp>
    </p:spTree>
    <p:extLst>
      <p:ext uri="{BB962C8B-B14F-4D97-AF65-F5344CB8AC3E}">
        <p14:creationId xmlns:p14="http://schemas.microsoft.com/office/powerpoint/2010/main" val="2082424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/>
          <p:cNvGrpSpPr/>
          <p:nvPr/>
        </p:nvGrpSpPr>
        <p:grpSpPr>
          <a:xfrm>
            <a:off x="1403648" y="-2773"/>
            <a:ext cx="6336704" cy="741056"/>
            <a:chOff x="1403648" y="-2773"/>
            <a:chExt cx="6336704" cy="741056"/>
          </a:xfrm>
        </p:grpSpPr>
        <p:sp>
          <p:nvSpPr>
            <p:cNvPr id="18" name="Retângulo 17"/>
            <p:cNvSpPr/>
            <p:nvPr/>
          </p:nvSpPr>
          <p:spPr>
            <a:xfrm>
              <a:off x="1403648" y="195486"/>
              <a:ext cx="6336704" cy="542797"/>
            </a:xfrm>
            <a:prstGeom prst="rect">
              <a:avLst/>
            </a:prstGeom>
            <a:solidFill>
              <a:srgbClr val="2E58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3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Atividade 3 – parte II – p. 59</a:t>
              </a:r>
            </a:p>
          </p:txBody>
        </p:sp>
        <p:sp>
          <p:nvSpPr>
            <p:cNvPr id="19" name="Retângulo 18"/>
            <p:cNvSpPr/>
            <p:nvPr/>
          </p:nvSpPr>
          <p:spPr>
            <a:xfrm>
              <a:off x="1403648" y="-2773"/>
              <a:ext cx="6336704" cy="195486"/>
            </a:xfrm>
            <a:prstGeom prst="rect">
              <a:avLst/>
            </a:prstGeom>
            <a:solidFill>
              <a:srgbClr val="1109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3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395287" y="1207403"/>
            <a:ext cx="83534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 seguir, estão algumas planificações de formas geométricas espaciais. Observe, com atenção, cada uma delas e informe a que figura espacial se refere.</a:t>
            </a: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172700D5-D038-42E3-9D94-A4F6A026E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8" y="2427734"/>
            <a:ext cx="1906879" cy="2160240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A67ECB00-1801-44D5-BE17-0ED42F642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539" y="2427734"/>
            <a:ext cx="2184650" cy="2160240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395286" y="4700875"/>
            <a:ext cx="63373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Aprender Sempre, 2021. Caderno do Aluno, Matemática, 2ª série EM, vol. 1, p. 59.</a:t>
            </a:r>
          </a:p>
        </p:txBody>
      </p:sp>
    </p:spTree>
    <p:extLst>
      <p:ext uri="{BB962C8B-B14F-4D97-AF65-F5344CB8AC3E}">
        <p14:creationId xmlns:p14="http://schemas.microsoft.com/office/powerpoint/2010/main" val="1161797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/>
          <p:cNvGrpSpPr/>
          <p:nvPr/>
        </p:nvGrpSpPr>
        <p:grpSpPr>
          <a:xfrm>
            <a:off x="1403648" y="-2773"/>
            <a:ext cx="6336704" cy="741056"/>
            <a:chOff x="1403648" y="-2773"/>
            <a:chExt cx="6336704" cy="741056"/>
          </a:xfrm>
        </p:grpSpPr>
        <p:sp>
          <p:nvSpPr>
            <p:cNvPr id="18" name="Retângulo 17"/>
            <p:cNvSpPr/>
            <p:nvPr/>
          </p:nvSpPr>
          <p:spPr>
            <a:xfrm>
              <a:off x="1403648" y="195486"/>
              <a:ext cx="6336704" cy="542797"/>
            </a:xfrm>
            <a:prstGeom prst="rect">
              <a:avLst/>
            </a:prstGeom>
            <a:solidFill>
              <a:srgbClr val="2E58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3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Resolução da Atividade 3 – parte II</a:t>
              </a:r>
            </a:p>
          </p:txBody>
        </p:sp>
        <p:sp>
          <p:nvSpPr>
            <p:cNvPr id="19" name="Retângulo 18"/>
            <p:cNvSpPr/>
            <p:nvPr/>
          </p:nvSpPr>
          <p:spPr>
            <a:xfrm>
              <a:off x="1403648" y="-2773"/>
              <a:ext cx="6336704" cy="195486"/>
            </a:xfrm>
            <a:prstGeom prst="rect">
              <a:avLst/>
            </a:prstGeom>
            <a:solidFill>
              <a:srgbClr val="1109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3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1751236" y="3171979"/>
            <a:ext cx="518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b="1" dirty="0">
                <a:solidFill>
                  <a:srgbClr val="00B05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Pirâmide de base triangular (tetraedro)</a:t>
            </a:r>
            <a:endParaRPr lang="pt-BR" sz="2000" b="1" dirty="0">
              <a:solidFill>
                <a:srgbClr val="FFC000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9A4A8E2F-E8C0-4A1E-BEC1-ECEA1011B158}"/>
              </a:ext>
            </a:extLst>
          </p:cNvPr>
          <p:cNvGrpSpPr/>
          <p:nvPr/>
        </p:nvGrpSpPr>
        <p:grpSpPr>
          <a:xfrm>
            <a:off x="406356" y="1203325"/>
            <a:ext cx="1156623" cy="1310300"/>
            <a:chOff x="1425774" y="805184"/>
            <a:chExt cx="1156623" cy="1310300"/>
          </a:xfrm>
        </p:grpSpPr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934DB010-394D-4142-A4D0-83AF90D79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5774" y="805184"/>
              <a:ext cx="1156623" cy="1310300"/>
            </a:xfrm>
            <a:prstGeom prst="rect">
              <a:avLst/>
            </a:prstGeom>
          </p:spPr>
        </p:pic>
        <p:sp>
          <p:nvSpPr>
            <p:cNvPr id="2" name="Retângulo 1">
              <a:extLst>
                <a:ext uri="{FF2B5EF4-FFF2-40B4-BE49-F238E27FC236}">
                  <a16:creationId xmlns:a16="http://schemas.microsoft.com/office/drawing/2014/main" id="{2899AEF8-7F44-4E76-A749-B23D480879D7}"/>
                </a:ext>
              </a:extLst>
            </p:cNvPr>
            <p:cNvSpPr/>
            <p:nvPr/>
          </p:nvSpPr>
          <p:spPr>
            <a:xfrm>
              <a:off x="1425774" y="805184"/>
              <a:ext cx="1156623" cy="1296826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3FE9DBA7-45D0-42CC-91F2-1092B90A87A8}"/>
              </a:ext>
            </a:extLst>
          </p:cNvPr>
          <p:cNvGrpSpPr/>
          <p:nvPr/>
        </p:nvGrpSpPr>
        <p:grpSpPr>
          <a:xfrm>
            <a:off x="406356" y="2706905"/>
            <a:ext cx="1334993" cy="1320279"/>
            <a:chOff x="2719602" y="795205"/>
            <a:chExt cx="1334993" cy="1320279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679FEA54-B3C8-49CB-8E43-FC01BA69F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29489" y="805184"/>
              <a:ext cx="1325106" cy="1310300"/>
            </a:xfrm>
            <a:prstGeom prst="rect">
              <a:avLst/>
            </a:prstGeom>
          </p:spPr>
        </p:pic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F8E6D94A-9DBD-46AF-97A5-D6597D004A6E}"/>
                </a:ext>
              </a:extLst>
            </p:cNvPr>
            <p:cNvSpPr/>
            <p:nvPr/>
          </p:nvSpPr>
          <p:spPr>
            <a:xfrm>
              <a:off x="2719602" y="795205"/>
              <a:ext cx="1325106" cy="1296826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D240282-10E8-463B-91B3-5D390E3E54CB}"/>
              </a:ext>
            </a:extLst>
          </p:cNvPr>
          <p:cNvSpPr txBox="1"/>
          <p:nvPr/>
        </p:nvSpPr>
        <p:spPr>
          <a:xfrm>
            <a:off x="1751236" y="1713518"/>
            <a:ext cx="4981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b="1" dirty="0">
                <a:solidFill>
                  <a:srgbClr val="C0000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Pirâmide de base quadrada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0F71A45-E914-4BE1-92DB-BA4C4493CB06}"/>
              </a:ext>
            </a:extLst>
          </p:cNvPr>
          <p:cNvSpPr txBox="1"/>
          <p:nvPr/>
        </p:nvSpPr>
        <p:spPr>
          <a:xfrm>
            <a:off x="395286" y="4700875"/>
            <a:ext cx="63373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Aprender Sempre, 2021. Caderno do Aluno, Matemática, 2ª série EM, vol. 1, p. 59.</a:t>
            </a:r>
          </a:p>
        </p:txBody>
      </p:sp>
    </p:spTree>
    <p:extLst>
      <p:ext uri="{BB962C8B-B14F-4D97-AF65-F5344CB8AC3E}">
        <p14:creationId xmlns:p14="http://schemas.microsoft.com/office/powerpoint/2010/main" val="1932986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2">
            <a:extLst>
              <a:ext uri="{FF2B5EF4-FFF2-40B4-BE49-F238E27FC236}">
                <a16:creationId xmlns:a16="http://schemas.microsoft.com/office/drawing/2014/main" id="{5F115CDB-AC08-42D5-A1FD-DFA4A5FCF94C}"/>
              </a:ext>
            </a:extLst>
          </p:cNvPr>
          <p:cNvGrpSpPr/>
          <p:nvPr/>
        </p:nvGrpSpPr>
        <p:grpSpPr>
          <a:xfrm>
            <a:off x="1403648" y="-2773"/>
            <a:ext cx="6336704" cy="741056"/>
            <a:chOff x="1403648" y="-2773"/>
            <a:chExt cx="6336704" cy="741056"/>
          </a:xfrm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01F1B88F-0565-4E5D-8B07-86B1EF25633D}"/>
                </a:ext>
              </a:extLst>
            </p:cNvPr>
            <p:cNvSpPr/>
            <p:nvPr/>
          </p:nvSpPr>
          <p:spPr>
            <a:xfrm>
              <a:off x="1403648" y="195486"/>
              <a:ext cx="6336704" cy="542797"/>
            </a:xfrm>
            <a:prstGeom prst="rect">
              <a:avLst/>
            </a:prstGeom>
            <a:solidFill>
              <a:srgbClr val="2E58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3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Corpos Redondos</a:t>
              </a:r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9AD4A605-32B3-4490-B61C-198C0B8118FC}"/>
                </a:ext>
              </a:extLst>
            </p:cNvPr>
            <p:cNvSpPr/>
            <p:nvPr/>
          </p:nvSpPr>
          <p:spPr>
            <a:xfrm>
              <a:off x="1403648" y="-2773"/>
              <a:ext cx="6336704" cy="195486"/>
            </a:xfrm>
            <a:prstGeom prst="rect">
              <a:avLst/>
            </a:prstGeom>
            <a:solidFill>
              <a:srgbClr val="1109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3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D4521EA-258E-45C6-9FDD-63291F8668C4}"/>
              </a:ext>
            </a:extLst>
          </p:cNvPr>
          <p:cNvSpPr txBox="1"/>
          <p:nvPr/>
        </p:nvSpPr>
        <p:spPr>
          <a:xfrm>
            <a:off x="395287" y="1203325"/>
            <a:ext cx="83534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sz="200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Os </a:t>
            </a:r>
            <a:r>
              <a:rPr lang="pt-BR" sz="2000" b="1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Sólidos Geométricos </a:t>
            </a:r>
            <a:r>
              <a:rPr lang="pt-BR" sz="2000" b="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podem ser classificados como: </a:t>
            </a:r>
          </a:p>
          <a:p>
            <a:pPr marL="180000" indent="-180000" algn="just">
              <a:spcAft>
                <a:spcPts val="1200"/>
              </a:spcAft>
              <a:buClr>
                <a:srgbClr val="2E58A6"/>
              </a:buClr>
              <a:buSzPct val="130000"/>
              <a:buFont typeface="Arial" panose="020B0604020202020204" pitchFamily="34" charset="0"/>
              <a:buChar char="•"/>
            </a:pPr>
            <a:r>
              <a:rPr lang="pt-BR" sz="2000" b="1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Corpos Redondos:</a:t>
            </a:r>
            <a:r>
              <a:rPr lang="pt-BR" sz="2000" b="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têm</a:t>
            </a:r>
            <a:r>
              <a:rPr lang="pt-BR" sz="2000" b="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 </a:t>
            </a:r>
            <a:r>
              <a:rPr lang="pt-BR" sz="2000" b="1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superfícies arredondadas</a:t>
            </a:r>
            <a:r>
              <a:rPr lang="pt-BR" sz="200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.</a:t>
            </a:r>
            <a:r>
              <a:rPr lang="pt-BR" sz="2000" b="1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 </a:t>
            </a:r>
          </a:p>
          <a:p>
            <a:pPr algn="just">
              <a:spcAft>
                <a:spcPts val="1200"/>
              </a:spcAft>
            </a:pPr>
            <a:r>
              <a:rPr lang="pt-BR" sz="2000" b="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Exemplos:</a:t>
            </a:r>
            <a:r>
              <a:rPr lang="pt-BR" sz="2000" b="1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 </a:t>
            </a:r>
            <a:r>
              <a:rPr lang="pt-BR" sz="2000" b="1" i="0" dirty="0">
                <a:solidFill>
                  <a:schemeClr val="bg1">
                    <a:lumMod val="50000"/>
                  </a:schemeClr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cilindro</a:t>
            </a:r>
            <a:r>
              <a:rPr lang="pt-BR" sz="2000" b="1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pt-BR" sz="200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 </a:t>
            </a:r>
            <a:r>
              <a:rPr lang="pt-BR" sz="2000" b="1" i="0" dirty="0">
                <a:solidFill>
                  <a:srgbClr val="2E58A6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cone</a:t>
            </a:r>
            <a:r>
              <a:rPr lang="pt-BR" sz="2000" b="0" i="0" dirty="0">
                <a:solidFill>
                  <a:srgbClr val="2E58A6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.</a:t>
            </a:r>
            <a:endParaRPr lang="pt-BR" sz="2000" b="1" i="0" dirty="0">
              <a:solidFill>
                <a:srgbClr val="2E58A6"/>
              </a:solidFill>
              <a:effectLst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59C0D2A-9C4F-492B-8B01-0772AC3B6E4D}"/>
              </a:ext>
            </a:extLst>
          </p:cNvPr>
          <p:cNvSpPr txBox="1"/>
          <p:nvPr/>
        </p:nvSpPr>
        <p:spPr>
          <a:xfrm>
            <a:off x="427779" y="4702017"/>
            <a:ext cx="2518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Elaborado especialmente para o CMSP.</a:t>
            </a:r>
          </a:p>
        </p:txBody>
      </p:sp>
    </p:spTree>
    <p:extLst>
      <p:ext uri="{BB962C8B-B14F-4D97-AF65-F5344CB8AC3E}">
        <p14:creationId xmlns:p14="http://schemas.microsoft.com/office/powerpoint/2010/main" val="1924536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/>
          <p:cNvGrpSpPr/>
          <p:nvPr/>
        </p:nvGrpSpPr>
        <p:grpSpPr>
          <a:xfrm>
            <a:off x="1403648" y="-2773"/>
            <a:ext cx="6336704" cy="741056"/>
            <a:chOff x="1403648" y="-2773"/>
            <a:chExt cx="6336704" cy="741056"/>
          </a:xfrm>
        </p:grpSpPr>
        <p:sp>
          <p:nvSpPr>
            <p:cNvPr id="18" name="Retângulo 17"/>
            <p:cNvSpPr/>
            <p:nvPr/>
          </p:nvSpPr>
          <p:spPr>
            <a:xfrm>
              <a:off x="1403648" y="195486"/>
              <a:ext cx="6336704" cy="542797"/>
            </a:xfrm>
            <a:prstGeom prst="rect">
              <a:avLst/>
            </a:prstGeom>
            <a:solidFill>
              <a:srgbClr val="2E58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3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Cilindro</a:t>
              </a:r>
            </a:p>
          </p:txBody>
        </p:sp>
        <p:sp>
          <p:nvSpPr>
            <p:cNvPr id="19" name="Retângulo 18"/>
            <p:cNvSpPr/>
            <p:nvPr/>
          </p:nvSpPr>
          <p:spPr>
            <a:xfrm>
              <a:off x="1403648" y="-2773"/>
              <a:ext cx="6336704" cy="195486"/>
            </a:xfrm>
            <a:prstGeom prst="rect">
              <a:avLst/>
            </a:prstGeom>
            <a:solidFill>
              <a:srgbClr val="1109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3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395288" y="1205776"/>
            <a:ext cx="8353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b="1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Cilindro: duas bases circulares iguais </a:t>
            </a:r>
            <a:r>
              <a:rPr lang="pt-BR" sz="200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(superior e inferior) </a:t>
            </a:r>
            <a:r>
              <a:rPr lang="pt-BR" sz="2000" b="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 sua </a:t>
            </a:r>
            <a:r>
              <a:rPr lang="pt-BR" sz="2000" b="1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face lateral</a:t>
            </a:r>
            <a:r>
              <a:rPr lang="pt-BR" sz="2000" b="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é um </a:t>
            </a:r>
            <a:r>
              <a:rPr lang="pt-BR" sz="2000" b="1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retângulo</a:t>
            </a:r>
            <a:r>
              <a:rPr lang="pt-BR" sz="2000" b="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.</a:t>
            </a:r>
            <a:endParaRPr lang="pt-BR" sz="2000" i="0" dirty="0">
              <a:effectLst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5" name="Modelo 3D 24" descr="Cilindro Cinza-Claro">
                <a:extLst>
                  <a:ext uri="{FF2B5EF4-FFF2-40B4-BE49-F238E27FC236}">
                    <a16:creationId xmlns:a16="http://schemas.microsoft.com/office/drawing/2014/main" id="{36EFC4A6-3610-4D81-B03E-38E9153E086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1520" y="3080398"/>
              <a:ext cx="957201" cy="96648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957201" cy="966483"/>
                    </a:xfrm>
                    <a:prstGeom prst="rect">
                      <a:avLst/>
                    </a:prstGeom>
                  </am3d:spPr>
                  <am3d:camera>
                    <am3d:pos x="0" y="0" z="6278280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59681" d="1000000"/>
                    <am3d:preTrans dx="22" dy="-18000000" dz="6"/>
                    <am3d:scale>
                      <am3d:sx n="1000000" d="1000000"/>
                      <am3d:sy n="1000000" d="1000000"/>
                      <am3d:sz n="1000000" d="1000000"/>
                    </am3d:scale>
                    <am3d:rot ax="-8459614" ay="1253493" az="-9833368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10069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5" name="Modelo 3D 24" descr="Cilindro Cinza-Claro">
                <a:extLst>
                  <a:ext uri="{FF2B5EF4-FFF2-40B4-BE49-F238E27FC236}">
                    <a16:creationId xmlns:a16="http://schemas.microsoft.com/office/drawing/2014/main" id="{36EFC4A6-3610-4D81-B03E-38E9153E086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1520" y="3080398"/>
                <a:ext cx="957201" cy="966483"/>
              </a:xfrm>
              <a:prstGeom prst="rect">
                <a:avLst/>
              </a:prstGeom>
            </p:spPr>
          </p:pic>
        </mc:Fallback>
      </mc:AlternateContent>
      <p:grpSp>
        <p:nvGrpSpPr>
          <p:cNvPr id="2" name="Agrupar 1">
            <a:extLst>
              <a:ext uri="{FF2B5EF4-FFF2-40B4-BE49-F238E27FC236}">
                <a16:creationId xmlns:a16="http://schemas.microsoft.com/office/drawing/2014/main" id="{8D244CEB-64E1-496D-BBBA-89B1BDFC97FB}"/>
              </a:ext>
            </a:extLst>
          </p:cNvPr>
          <p:cNvGrpSpPr/>
          <p:nvPr/>
        </p:nvGrpSpPr>
        <p:grpSpPr>
          <a:xfrm>
            <a:off x="4922366" y="2715766"/>
            <a:ext cx="1737866" cy="1980761"/>
            <a:chOff x="4911278" y="2556867"/>
            <a:chExt cx="1737866" cy="1980761"/>
          </a:xfrm>
        </p:grpSpPr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id="{56F08914-0908-4BB0-B90C-680415B2CEBD}"/>
                </a:ext>
              </a:extLst>
            </p:cNvPr>
            <p:cNvSpPr/>
            <p:nvPr/>
          </p:nvSpPr>
          <p:spPr>
            <a:xfrm>
              <a:off x="4911278" y="3104332"/>
              <a:ext cx="1737866" cy="88957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B5935033-D550-4E95-B7CD-4869AEFEF6B8}"/>
                </a:ext>
              </a:extLst>
            </p:cNvPr>
            <p:cNvSpPr/>
            <p:nvPr/>
          </p:nvSpPr>
          <p:spPr>
            <a:xfrm>
              <a:off x="4926929" y="2556867"/>
              <a:ext cx="542702" cy="54270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C9C94476-29F1-4A93-BD52-4FD837EAD736}"/>
                </a:ext>
              </a:extLst>
            </p:cNvPr>
            <p:cNvSpPr/>
            <p:nvPr/>
          </p:nvSpPr>
          <p:spPr>
            <a:xfrm>
              <a:off x="4941763" y="3994926"/>
              <a:ext cx="542702" cy="54270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852B5B63-354F-4D1D-AA8D-A8E7CD26F4E5}"/>
              </a:ext>
            </a:extLst>
          </p:cNvPr>
          <p:cNvCxnSpPr>
            <a:cxnSpLocks/>
          </p:cNvCxnSpPr>
          <p:nvPr/>
        </p:nvCxnSpPr>
        <p:spPr>
          <a:xfrm flipH="1">
            <a:off x="899592" y="3065865"/>
            <a:ext cx="772161" cy="1453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FD7606F8-9DF7-4D77-8A86-11142E60593F}"/>
              </a:ext>
            </a:extLst>
          </p:cNvPr>
          <p:cNvCxnSpPr>
            <a:cxnSpLocks/>
          </p:cNvCxnSpPr>
          <p:nvPr/>
        </p:nvCxnSpPr>
        <p:spPr>
          <a:xfrm>
            <a:off x="4405820" y="3512757"/>
            <a:ext cx="66965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9243AAAC-4E76-4309-81F5-5EEEF6590E66}"/>
              </a:ext>
            </a:extLst>
          </p:cNvPr>
          <p:cNvCxnSpPr>
            <a:cxnSpLocks/>
          </p:cNvCxnSpPr>
          <p:nvPr/>
        </p:nvCxnSpPr>
        <p:spPr>
          <a:xfrm flipH="1" flipV="1">
            <a:off x="1036808" y="3475192"/>
            <a:ext cx="688459" cy="1453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244A70C1-14AF-47F3-A57E-705D990D570A}"/>
              </a:ext>
            </a:extLst>
          </p:cNvPr>
          <p:cNvCxnSpPr>
            <a:cxnSpLocks/>
          </p:cNvCxnSpPr>
          <p:nvPr/>
        </p:nvCxnSpPr>
        <p:spPr>
          <a:xfrm flipV="1">
            <a:off x="4427984" y="2975770"/>
            <a:ext cx="745226" cy="230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4CDE8DDF-2167-48EA-88F6-B5DDFBBF4BEA}"/>
              </a:ext>
            </a:extLst>
          </p:cNvPr>
          <p:cNvCxnSpPr>
            <a:cxnSpLocks/>
          </p:cNvCxnSpPr>
          <p:nvPr/>
        </p:nvCxnSpPr>
        <p:spPr>
          <a:xfrm>
            <a:off x="4283968" y="4019747"/>
            <a:ext cx="889242" cy="3946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5491327F-010A-4619-BEDD-AD7AA0905E45}"/>
              </a:ext>
            </a:extLst>
          </p:cNvPr>
          <p:cNvCxnSpPr>
            <a:cxnSpLocks/>
          </p:cNvCxnSpPr>
          <p:nvPr/>
        </p:nvCxnSpPr>
        <p:spPr>
          <a:xfrm flipH="1" flipV="1">
            <a:off x="730121" y="3856108"/>
            <a:ext cx="957200" cy="2841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9B5F0C2-ABF1-4315-8CF4-6D0AAF49B5EF}"/>
              </a:ext>
            </a:extLst>
          </p:cNvPr>
          <p:cNvSpPr txBox="1"/>
          <p:nvPr/>
        </p:nvSpPr>
        <p:spPr>
          <a:xfrm>
            <a:off x="395288" y="2099632"/>
            <a:ext cx="6337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Cilindro			            Planificação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0174BE3-2323-41EC-A320-FCAB857318A6}"/>
              </a:ext>
            </a:extLst>
          </p:cNvPr>
          <p:cNvSpPr txBox="1"/>
          <p:nvPr/>
        </p:nvSpPr>
        <p:spPr>
          <a:xfrm>
            <a:off x="730120" y="2891493"/>
            <a:ext cx="45720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8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Base superior </a:t>
            </a:r>
            <a:r>
              <a:rPr lang="pt-BR" sz="18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circular</a:t>
            </a:r>
          </a:p>
          <a:p>
            <a:pPr algn="ctr">
              <a:spcAft>
                <a:spcPts val="1200"/>
              </a:spcAft>
            </a:pPr>
            <a:r>
              <a:rPr lang="pt-BR" sz="180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Face lateral retangular</a:t>
            </a:r>
          </a:p>
          <a:p>
            <a:pPr algn="ctr">
              <a:spcAft>
                <a:spcPts val="1200"/>
              </a:spcAft>
            </a:pPr>
            <a:r>
              <a:rPr lang="pt-BR" sz="18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Base inferior </a:t>
            </a:r>
            <a:r>
              <a:rPr lang="pt-BR" sz="1800" b="1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circular</a:t>
            </a:r>
            <a:endParaRPr lang="pt-BR" sz="1800" b="1" i="0" dirty="0">
              <a:effectLst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864D896-7C17-43DF-A6FF-9A8E2C7DD888}"/>
              </a:ext>
            </a:extLst>
          </p:cNvPr>
          <p:cNvSpPr txBox="1"/>
          <p:nvPr/>
        </p:nvSpPr>
        <p:spPr>
          <a:xfrm>
            <a:off x="427779" y="4702017"/>
            <a:ext cx="2518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Elaborado especialmente para o CMSP.</a:t>
            </a:r>
          </a:p>
        </p:txBody>
      </p:sp>
    </p:spTree>
    <p:extLst>
      <p:ext uri="{BB962C8B-B14F-4D97-AF65-F5344CB8AC3E}">
        <p14:creationId xmlns:p14="http://schemas.microsoft.com/office/powerpoint/2010/main" val="2594614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/>
          <p:cNvGrpSpPr/>
          <p:nvPr/>
        </p:nvGrpSpPr>
        <p:grpSpPr>
          <a:xfrm>
            <a:off x="1403648" y="-2773"/>
            <a:ext cx="6336704" cy="741056"/>
            <a:chOff x="1403648" y="-2773"/>
            <a:chExt cx="6336704" cy="741056"/>
          </a:xfrm>
        </p:grpSpPr>
        <p:sp>
          <p:nvSpPr>
            <p:cNvPr id="18" name="Retângulo 17"/>
            <p:cNvSpPr/>
            <p:nvPr/>
          </p:nvSpPr>
          <p:spPr>
            <a:xfrm>
              <a:off x="1403648" y="195486"/>
              <a:ext cx="6336704" cy="542797"/>
            </a:xfrm>
            <a:prstGeom prst="rect">
              <a:avLst/>
            </a:prstGeom>
            <a:solidFill>
              <a:srgbClr val="2E58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3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Cone</a:t>
              </a:r>
            </a:p>
          </p:txBody>
        </p:sp>
        <p:sp>
          <p:nvSpPr>
            <p:cNvPr id="19" name="Retângulo 18"/>
            <p:cNvSpPr/>
            <p:nvPr/>
          </p:nvSpPr>
          <p:spPr>
            <a:xfrm>
              <a:off x="1403648" y="-2773"/>
              <a:ext cx="6336704" cy="195486"/>
            </a:xfrm>
            <a:prstGeom prst="rect">
              <a:avLst/>
            </a:prstGeom>
            <a:solidFill>
              <a:srgbClr val="1109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3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4" name="Modelo 3D 23" descr="Cone">
                <a:extLst>
                  <a:ext uri="{FF2B5EF4-FFF2-40B4-BE49-F238E27FC236}">
                    <a16:creationId xmlns:a16="http://schemas.microsoft.com/office/drawing/2014/main" id="{9DA16765-1F84-495C-A0C1-8D86E163F11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95288" y="2578383"/>
              <a:ext cx="936104" cy="157466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936104" cy="1574666"/>
                    </a:xfrm>
                    <a:prstGeom prst="rect">
                      <a:avLst/>
                    </a:prstGeom>
                  </am3d:spPr>
                  <am3d:camera>
                    <am3d:pos x="0" y="0" z="7987706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04480" d="1000000"/>
                    <am3d:preTrans dx="2" dy="-16922770" dz="-2"/>
                    <am3d:scale>
                      <am3d:sx n="1000000" d="1000000"/>
                      <am3d:sy n="1000000" d="1000000"/>
                      <am3d:sz n="1000000" d="1000000"/>
                    </am3d:scale>
                    <am3d:rot ax="-1411917" ay="436343" az="-189314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40415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4" name="Modelo 3D 23" descr="Cone">
                <a:extLst>
                  <a:ext uri="{FF2B5EF4-FFF2-40B4-BE49-F238E27FC236}">
                    <a16:creationId xmlns:a16="http://schemas.microsoft.com/office/drawing/2014/main" id="{9DA16765-1F84-495C-A0C1-8D86E163F11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5288" y="2578383"/>
                <a:ext cx="936104" cy="1574666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CaixaDeTexto 14">
            <a:extLst>
              <a:ext uri="{FF2B5EF4-FFF2-40B4-BE49-F238E27FC236}">
                <a16:creationId xmlns:a16="http://schemas.microsoft.com/office/drawing/2014/main" id="{73C57079-C45E-49D9-809E-439604BE22BC}"/>
              </a:ext>
            </a:extLst>
          </p:cNvPr>
          <p:cNvSpPr txBox="1"/>
          <p:nvPr/>
        </p:nvSpPr>
        <p:spPr>
          <a:xfrm>
            <a:off x="395288" y="1208115"/>
            <a:ext cx="8353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b="1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Cone:</a:t>
            </a:r>
            <a:r>
              <a:rPr lang="pt-BR" sz="2000" b="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pt-BR" sz="2000" b="1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uma base circular</a:t>
            </a:r>
            <a:r>
              <a:rPr lang="pt-BR" sz="200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, um </a:t>
            </a:r>
            <a:r>
              <a:rPr lang="pt-BR" sz="2000" b="1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vértice </a:t>
            </a:r>
            <a:r>
              <a:rPr lang="pt-BR" sz="2000" b="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 sua </a:t>
            </a:r>
            <a:r>
              <a:rPr lang="pt-BR" sz="2000" b="1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face lateral</a:t>
            </a:r>
            <a:r>
              <a:rPr lang="pt-BR" sz="2000" b="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e um </a:t>
            </a:r>
            <a:r>
              <a:rPr lang="pt-BR" sz="2000" b="1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arco de circunferência</a:t>
            </a:r>
            <a:r>
              <a:rPr lang="pt-BR" sz="2000" b="0" i="0" dirty="0"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.</a:t>
            </a:r>
            <a:endParaRPr lang="pt-BR" sz="2000" i="0" dirty="0">
              <a:effectLst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D73A496D-AE9D-4A64-81BD-443DBB7F8DE8}"/>
              </a:ext>
            </a:extLst>
          </p:cNvPr>
          <p:cNvGrpSpPr/>
          <p:nvPr/>
        </p:nvGrpSpPr>
        <p:grpSpPr>
          <a:xfrm>
            <a:off x="5148064" y="2502143"/>
            <a:ext cx="1612510" cy="1860391"/>
            <a:chOff x="3779912" y="2432261"/>
            <a:chExt cx="1656184" cy="1925908"/>
          </a:xfrm>
        </p:grpSpPr>
        <p:sp>
          <p:nvSpPr>
            <p:cNvPr id="3" name="Fluxograma: Extrair 2">
              <a:extLst>
                <a:ext uri="{FF2B5EF4-FFF2-40B4-BE49-F238E27FC236}">
                  <a16:creationId xmlns:a16="http://schemas.microsoft.com/office/drawing/2014/main" id="{DBD00050-23E0-47D2-AE15-7C4C952CA422}"/>
                </a:ext>
              </a:extLst>
            </p:cNvPr>
            <p:cNvSpPr/>
            <p:nvPr/>
          </p:nvSpPr>
          <p:spPr>
            <a:xfrm>
              <a:off x="3794199" y="2432261"/>
              <a:ext cx="1641897" cy="892931"/>
            </a:xfrm>
            <a:prstGeom prst="flowChartExtra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A9AB2160-4B7A-4E13-89F2-1934121CE3CE}"/>
                </a:ext>
              </a:extLst>
            </p:cNvPr>
            <p:cNvSpPr/>
            <p:nvPr/>
          </p:nvSpPr>
          <p:spPr>
            <a:xfrm>
              <a:off x="4234345" y="3596566"/>
              <a:ext cx="761603" cy="76160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4E42474C-2117-428C-BBA8-F62D002DA6F8}"/>
                </a:ext>
              </a:extLst>
            </p:cNvPr>
            <p:cNvSpPr/>
            <p:nvPr/>
          </p:nvSpPr>
          <p:spPr>
            <a:xfrm>
              <a:off x="3779912" y="3123993"/>
              <a:ext cx="1655068" cy="47749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ECBFF65A-E494-442D-9157-D019698FD80F}"/>
              </a:ext>
            </a:extLst>
          </p:cNvPr>
          <p:cNvCxnSpPr>
            <a:cxnSpLocks/>
          </p:cNvCxnSpPr>
          <p:nvPr/>
        </p:nvCxnSpPr>
        <p:spPr>
          <a:xfrm flipH="1">
            <a:off x="918343" y="2929972"/>
            <a:ext cx="1853457" cy="8796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28841E67-211D-4EA9-86B0-8700F308E0B3}"/>
              </a:ext>
            </a:extLst>
          </p:cNvPr>
          <p:cNvCxnSpPr>
            <a:cxnSpLocks/>
          </p:cNvCxnSpPr>
          <p:nvPr/>
        </p:nvCxnSpPr>
        <p:spPr>
          <a:xfrm flipH="1" flipV="1">
            <a:off x="834000" y="3694170"/>
            <a:ext cx="779904" cy="46704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EFC28111-703B-4D5E-A7E8-35F33BB2E246}"/>
              </a:ext>
            </a:extLst>
          </p:cNvPr>
          <p:cNvCxnSpPr>
            <a:cxnSpLocks/>
          </p:cNvCxnSpPr>
          <p:nvPr/>
        </p:nvCxnSpPr>
        <p:spPr>
          <a:xfrm>
            <a:off x="4211960" y="3795886"/>
            <a:ext cx="1512168" cy="21472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237607A0-02F2-43B7-9AA5-23B461951D17}"/>
              </a:ext>
            </a:extLst>
          </p:cNvPr>
          <p:cNvCxnSpPr>
            <a:cxnSpLocks/>
          </p:cNvCxnSpPr>
          <p:nvPr/>
        </p:nvCxnSpPr>
        <p:spPr>
          <a:xfrm>
            <a:off x="5220072" y="3075806"/>
            <a:ext cx="43204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2DC4DCB1-6834-49E5-9EBC-99FEE30E4BF3}"/>
              </a:ext>
            </a:extLst>
          </p:cNvPr>
          <p:cNvCxnSpPr>
            <a:cxnSpLocks/>
          </p:cNvCxnSpPr>
          <p:nvPr/>
        </p:nvCxnSpPr>
        <p:spPr>
          <a:xfrm flipH="1">
            <a:off x="918344" y="3364380"/>
            <a:ext cx="485304" cy="14466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2AC5E45-0A4A-4AE4-A79C-480D0202EFCE}"/>
              </a:ext>
            </a:extLst>
          </p:cNvPr>
          <p:cNvSpPr txBox="1"/>
          <p:nvPr/>
        </p:nvSpPr>
        <p:spPr>
          <a:xfrm>
            <a:off x="921154" y="2748827"/>
            <a:ext cx="473152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800" dirty="0">
                <a:solidFill>
                  <a:srgbClr val="00000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Vértice</a:t>
            </a:r>
          </a:p>
          <a:p>
            <a:pPr algn="ctr">
              <a:spcAft>
                <a:spcPts val="1200"/>
              </a:spcAft>
            </a:pPr>
            <a:r>
              <a:rPr lang="pt-BR" sz="1800" i="0" dirty="0">
                <a:solidFill>
                  <a:srgbClr val="000000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Face lateral – arco de circunferência</a:t>
            </a:r>
          </a:p>
          <a:p>
            <a:pPr algn="ctr">
              <a:spcAft>
                <a:spcPts val="1200"/>
              </a:spcAft>
            </a:pPr>
            <a:r>
              <a:rPr lang="pt-BR" sz="1800" dirty="0">
                <a:solidFill>
                  <a:srgbClr val="00000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Base </a:t>
            </a:r>
            <a:r>
              <a:rPr lang="pt-BR" sz="1800" b="1" dirty="0">
                <a:solidFill>
                  <a:srgbClr val="00000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circular</a:t>
            </a:r>
            <a:endParaRPr lang="pt-BR" sz="1800" b="1" i="0" dirty="0">
              <a:solidFill>
                <a:srgbClr val="404040"/>
              </a:solidFill>
              <a:effectLst/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DEE25FF-D6B7-4D88-A942-A2A6CCB1359A}"/>
              </a:ext>
            </a:extLst>
          </p:cNvPr>
          <p:cNvSpPr txBox="1"/>
          <p:nvPr/>
        </p:nvSpPr>
        <p:spPr>
          <a:xfrm>
            <a:off x="395288" y="2102034"/>
            <a:ext cx="6337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i="0" dirty="0">
                <a:solidFill>
                  <a:srgbClr val="000000"/>
                </a:solidFill>
                <a:effectLst/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Cilindro			              Planificação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090C4EA-9570-48FD-A4FB-E70B50915F68}"/>
              </a:ext>
            </a:extLst>
          </p:cNvPr>
          <p:cNvSpPr txBox="1"/>
          <p:nvPr/>
        </p:nvSpPr>
        <p:spPr>
          <a:xfrm>
            <a:off x="427779" y="4702017"/>
            <a:ext cx="2518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Elaborado especialmente para o CMSP.</a:t>
            </a:r>
          </a:p>
        </p:txBody>
      </p:sp>
    </p:spTree>
    <p:extLst>
      <p:ext uri="{BB962C8B-B14F-4D97-AF65-F5344CB8AC3E}">
        <p14:creationId xmlns:p14="http://schemas.microsoft.com/office/powerpoint/2010/main" val="2059511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/>
          <p:cNvGrpSpPr/>
          <p:nvPr/>
        </p:nvGrpSpPr>
        <p:grpSpPr>
          <a:xfrm>
            <a:off x="1403648" y="-2773"/>
            <a:ext cx="6336704" cy="741056"/>
            <a:chOff x="1403648" y="-2773"/>
            <a:chExt cx="6336704" cy="741056"/>
          </a:xfrm>
        </p:grpSpPr>
        <p:sp>
          <p:nvSpPr>
            <p:cNvPr id="18" name="Retângulo 17"/>
            <p:cNvSpPr/>
            <p:nvPr/>
          </p:nvSpPr>
          <p:spPr>
            <a:xfrm>
              <a:off x="1403648" y="195486"/>
              <a:ext cx="6336704" cy="542797"/>
            </a:xfrm>
            <a:prstGeom prst="rect">
              <a:avLst/>
            </a:prstGeom>
            <a:solidFill>
              <a:srgbClr val="2E58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3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Atividade 3 – parte III – p. 59</a:t>
              </a:r>
            </a:p>
          </p:txBody>
        </p:sp>
        <p:sp>
          <p:nvSpPr>
            <p:cNvPr id="19" name="Retângulo 18"/>
            <p:cNvSpPr/>
            <p:nvPr/>
          </p:nvSpPr>
          <p:spPr>
            <a:xfrm>
              <a:off x="1403648" y="-2773"/>
              <a:ext cx="6336704" cy="195486"/>
            </a:xfrm>
            <a:prstGeom prst="rect">
              <a:avLst/>
            </a:prstGeom>
            <a:solidFill>
              <a:srgbClr val="1109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3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395287" y="1212003"/>
            <a:ext cx="83534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 seguir, estão algumas planificações de formas geométricas espaciais. Observe, com atenção, cada uma delas e informe a que figura espacial se refere.</a:t>
            </a: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78186A85-8293-4A47-B707-D2DAD125D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409" y="2286409"/>
            <a:ext cx="1848615" cy="2301564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23AAB0D7-5E80-4EE3-9CD1-74442F9D3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8" y="2286410"/>
            <a:ext cx="2271675" cy="2301564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D9A97663-CAD4-4BB9-BA15-8C615EEB67C3}"/>
              </a:ext>
            </a:extLst>
          </p:cNvPr>
          <p:cNvSpPr txBox="1"/>
          <p:nvPr/>
        </p:nvSpPr>
        <p:spPr>
          <a:xfrm>
            <a:off x="395286" y="4700875"/>
            <a:ext cx="63373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Aprender Sempre, 2021. Caderno do Aluno, Matemática, 2ª série EM, vol. 1, p. 59.</a:t>
            </a:r>
          </a:p>
        </p:txBody>
      </p:sp>
    </p:spTree>
    <p:extLst>
      <p:ext uri="{BB962C8B-B14F-4D97-AF65-F5344CB8AC3E}">
        <p14:creationId xmlns:p14="http://schemas.microsoft.com/office/powerpoint/2010/main" val="264679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/>
          <p:cNvGrpSpPr/>
          <p:nvPr/>
        </p:nvGrpSpPr>
        <p:grpSpPr>
          <a:xfrm>
            <a:off x="1403648" y="-2773"/>
            <a:ext cx="6336704" cy="741056"/>
            <a:chOff x="1403648" y="-2773"/>
            <a:chExt cx="6336704" cy="741056"/>
          </a:xfrm>
        </p:grpSpPr>
        <p:sp>
          <p:nvSpPr>
            <p:cNvPr id="18" name="Retângulo 17"/>
            <p:cNvSpPr/>
            <p:nvPr/>
          </p:nvSpPr>
          <p:spPr>
            <a:xfrm>
              <a:off x="1403648" y="195486"/>
              <a:ext cx="6336704" cy="542797"/>
            </a:xfrm>
            <a:prstGeom prst="rect">
              <a:avLst/>
            </a:prstGeom>
            <a:solidFill>
              <a:srgbClr val="2E58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300" b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Resolução da Atividade 3 – parte III</a:t>
              </a:r>
            </a:p>
          </p:txBody>
        </p:sp>
        <p:sp>
          <p:nvSpPr>
            <p:cNvPr id="19" name="Retângulo 18"/>
            <p:cNvSpPr/>
            <p:nvPr/>
          </p:nvSpPr>
          <p:spPr>
            <a:xfrm>
              <a:off x="1403648" y="-2773"/>
              <a:ext cx="6336704" cy="195486"/>
            </a:xfrm>
            <a:prstGeom prst="rect">
              <a:avLst/>
            </a:prstGeom>
            <a:solidFill>
              <a:srgbClr val="11097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3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9" name="CaixaDeTexto 8"/>
          <p:cNvSpPr txBox="1"/>
          <p:nvPr/>
        </p:nvSpPr>
        <p:spPr>
          <a:xfrm>
            <a:off x="2038152" y="3383715"/>
            <a:ext cx="1597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b="1" dirty="0">
                <a:solidFill>
                  <a:srgbClr val="FFC00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Cone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49BC0E9-A579-4009-BF2B-D5B11266BDE0}"/>
              </a:ext>
            </a:extLst>
          </p:cNvPr>
          <p:cNvGrpSpPr/>
          <p:nvPr/>
        </p:nvGrpSpPr>
        <p:grpSpPr>
          <a:xfrm>
            <a:off x="398488" y="1231282"/>
            <a:ext cx="1337936" cy="1325362"/>
            <a:chOff x="6212223" y="782565"/>
            <a:chExt cx="1337936" cy="1325362"/>
          </a:xfrm>
        </p:grpSpPr>
        <p:pic>
          <p:nvPicPr>
            <p:cNvPr id="21" name="Imagem 20">
              <a:extLst>
                <a:ext uri="{FF2B5EF4-FFF2-40B4-BE49-F238E27FC236}">
                  <a16:creationId xmlns:a16="http://schemas.microsoft.com/office/drawing/2014/main" id="{4A0822D7-126C-447E-AA4F-E016CACED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2009" y="782565"/>
              <a:ext cx="1308150" cy="1325362"/>
            </a:xfrm>
            <a:prstGeom prst="rect">
              <a:avLst/>
            </a:prstGeom>
          </p:spPr>
        </p:pic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392E054C-BCC1-423C-8BF5-1ED756459E6F}"/>
                </a:ext>
              </a:extLst>
            </p:cNvPr>
            <p:cNvSpPr/>
            <p:nvPr/>
          </p:nvSpPr>
          <p:spPr>
            <a:xfrm>
              <a:off x="6212223" y="783211"/>
              <a:ext cx="1337935" cy="130881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BF2F124E-D5AF-4BD7-ABF5-5AA3BACD351E}"/>
              </a:ext>
            </a:extLst>
          </p:cNvPr>
          <p:cNvGrpSpPr/>
          <p:nvPr/>
        </p:nvGrpSpPr>
        <p:grpSpPr>
          <a:xfrm>
            <a:off x="410940" y="2798160"/>
            <a:ext cx="1337935" cy="1656398"/>
            <a:chOff x="4193433" y="2192562"/>
            <a:chExt cx="1096719" cy="1357766"/>
          </a:xfrm>
        </p:grpSpPr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77B3EC95-095D-453B-AFCD-607313EF2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01687" y="2208572"/>
              <a:ext cx="1088465" cy="1341756"/>
            </a:xfrm>
            <a:prstGeom prst="rect">
              <a:avLst/>
            </a:prstGeom>
          </p:spPr>
        </p:pic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C01F8902-FBE6-4877-9572-4C7F98F99FEF}"/>
                </a:ext>
              </a:extLst>
            </p:cNvPr>
            <p:cNvSpPr/>
            <p:nvPr/>
          </p:nvSpPr>
          <p:spPr>
            <a:xfrm>
              <a:off x="4193433" y="2192562"/>
              <a:ext cx="1096719" cy="1357765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511AE28-F961-4C42-848A-4E9A9F8ACC69}"/>
              </a:ext>
            </a:extLst>
          </p:cNvPr>
          <p:cNvSpPr txBox="1"/>
          <p:nvPr/>
        </p:nvSpPr>
        <p:spPr>
          <a:xfrm>
            <a:off x="2038152" y="166088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b="1" dirty="0">
                <a:solidFill>
                  <a:srgbClr val="FF0000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Cilindro	</a:t>
            </a:r>
            <a:endParaRPr lang="pt-BR" sz="2000" b="1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2CB397DF-4003-4039-BC45-AE65717F1ED3}"/>
              </a:ext>
            </a:extLst>
          </p:cNvPr>
          <p:cNvSpPr txBox="1"/>
          <p:nvPr/>
        </p:nvSpPr>
        <p:spPr>
          <a:xfrm>
            <a:off x="395286" y="4700875"/>
            <a:ext cx="63373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Aprender Sempre, 2021. Caderno do Aluno, Matemática, 2ª série EM, vol. 1, p. 59.</a:t>
            </a:r>
          </a:p>
        </p:txBody>
      </p:sp>
    </p:spTree>
    <p:extLst>
      <p:ext uri="{BB962C8B-B14F-4D97-AF65-F5344CB8AC3E}">
        <p14:creationId xmlns:p14="http://schemas.microsoft.com/office/powerpoint/2010/main" val="3669547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74;p2">
            <a:extLst>
              <a:ext uri="{FF2B5EF4-FFF2-40B4-BE49-F238E27FC236}">
                <a16:creationId xmlns:a16="http://schemas.microsoft.com/office/drawing/2014/main" id="{C626B06E-DEAB-9F4A-BAEC-6E5F32CE6B31}"/>
              </a:ext>
            </a:extLst>
          </p:cNvPr>
          <p:cNvSpPr/>
          <p:nvPr/>
        </p:nvSpPr>
        <p:spPr>
          <a:xfrm>
            <a:off x="2339752" y="1900132"/>
            <a:ext cx="6804248" cy="1175674"/>
          </a:xfrm>
          <a:prstGeom prst="rect">
            <a:avLst/>
          </a:prstGeom>
          <a:solidFill>
            <a:srgbClr val="2E5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pt-BR" sz="28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Agradecemos a sua participação!</a:t>
            </a:r>
          </a:p>
          <a:p>
            <a:r>
              <a:rPr lang="pt-BR" sz="28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Bons estudos!</a:t>
            </a:r>
            <a:endParaRPr sz="2800" b="0" i="0" u="none" strike="noStrike" cap="none" dirty="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" name="Google Shape;75;p2" descr="C:\Users\Junior\Desktop\Logo Centro de Midias da Educacao de Sao Paulo\Logo Centro de Midias da Educacao de Sao Paulo\PNG\Logo-Centro-de-Midias-da-Educacao-de-Sao-Paulo-cor.png">
            <a:extLst>
              <a:ext uri="{FF2B5EF4-FFF2-40B4-BE49-F238E27FC236}">
                <a16:creationId xmlns:a16="http://schemas.microsoft.com/office/drawing/2014/main" id="{DAFC6C65-7B9E-3743-B804-44AEE4A452F0}"/>
              </a:ext>
            </a:extLst>
          </p:cNvPr>
          <p:cNvPicPr preferRelativeResize="0"/>
          <p:nvPr/>
        </p:nvPicPr>
        <p:blipFill rotWithShape="1">
          <a:blip r:embed="rId3" cstate="print">
            <a:alphaModFix/>
          </a:blip>
          <a:srcRect r="60874"/>
          <a:stretch/>
        </p:blipFill>
        <p:spPr>
          <a:xfrm>
            <a:off x="467544" y="1704846"/>
            <a:ext cx="1669266" cy="1566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75660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2861</TotalTime>
  <Words>880</Words>
  <Application>Microsoft Office PowerPoint</Application>
  <PresentationFormat>Apresentação na tela (16:9)</PresentationFormat>
  <Paragraphs>98</Paragraphs>
  <Slides>18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Arial</vt:lpstr>
      <vt:lpstr>Calibri</vt:lpstr>
      <vt:lpstr>Open Sans</vt:lpstr>
      <vt:lpstr>Trebuchet MS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Junior</dc:creator>
  <cp:lastModifiedBy>Bruna Carvalho</cp:lastModifiedBy>
  <cp:revision>106</cp:revision>
  <dcterms:created xsi:type="dcterms:W3CDTF">2020-04-03T18:57:27Z</dcterms:created>
  <dcterms:modified xsi:type="dcterms:W3CDTF">2025-08-24T16:16:23Z</dcterms:modified>
</cp:coreProperties>
</file>